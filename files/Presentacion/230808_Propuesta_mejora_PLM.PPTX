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 id="2147483661" r:id="rId2"/>
    <p:sldMasterId id="2147483665" r:id="rId3"/>
  </p:sldMasterIdLst>
  <p:notesMasterIdLst>
    <p:notesMasterId r:id="rId25"/>
  </p:notesMasterIdLst>
  <p:sldIdLst>
    <p:sldId id="338" r:id="rId4"/>
    <p:sldId id="320" r:id="rId5"/>
    <p:sldId id="348" r:id="rId6"/>
    <p:sldId id="350" r:id="rId7"/>
    <p:sldId id="353" r:id="rId8"/>
    <p:sldId id="349" r:id="rId9"/>
    <p:sldId id="351" r:id="rId10"/>
    <p:sldId id="357" r:id="rId11"/>
    <p:sldId id="354" r:id="rId12"/>
    <p:sldId id="355" r:id="rId13"/>
    <p:sldId id="356" r:id="rId14"/>
    <p:sldId id="344" r:id="rId15"/>
    <p:sldId id="358" r:id="rId16"/>
    <p:sldId id="362" r:id="rId17"/>
    <p:sldId id="363" r:id="rId18"/>
    <p:sldId id="364" r:id="rId19"/>
    <p:sldId id="360" r:id="rId20"/>
    <p:sldId id="361" r:id="rId21"/>
    <p:sldId id="365" r:id="rId22"/>
    <p:sldId id="359" r:id="rId23"/>
    <p:sldId id="321" r:id="rId24"/>
  </p:sldIdLst>
  <p:sldSz cx="12192000" cy="6858000"/>
  <p:notesSz cx="7559675" cy="10691813"/>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amayo Contreras, Lucas Ezequiel" initials="CCLE" lastIdx="5" clrIdx="0"/>
  <p:cmAuthor id="1" name="Euclides, Ignacio" initials="EI" lastIdx="2" clrIdx="1"/>
  <p:cmAuthor id="2" name="Cervi, Juan Patricio" initials="CJP" lastIdx="20" clrIdx="2"/>
  <p:cmAuthor id="3" name="Denaro, Arie" initials="AD"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35" autoAdjust="0"/>
    <p:restoredTop sz="92223" autoAdjust="0"/>
  </p:normalViewPr>
  <p:slideViewPr>
    <p:cSldViewPr>
      <p:cViewPr varScale="1">
        <p:scale>
          <a:sx n="68" d="100"/>
          <a:sy n="68" d="100"/>
        </p:scale>
        <p:origin x="564"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912BE0B4-273D-414A-B05E-9475D2BD5D92}" type="datetimeFigureOut">
              <a:rPr lang="es-AR" smtClean="0"/>
              <a:t>8/8/2023</a:t>
            </a:fld>
            <a:endParaRPr lang="es-AR"/>
          </a:p>
        </p:txBody>
      </p:sp>
      <p:sp>
        <p:nvSpPr>
          <p:cNvPr id="4" name="3 Marcador de imagen de diapositiva"/>
          <p:cNvSpPr>
            <a:spLocks noGrp="1" noRot="1" noChangeAspect="1"/>
          </p:cNvSpPr>
          <p:nvPr>
            <p:ph type="sldImg" idx="2"/>
          </p:nvPr>
        </p:nvSpPr>
        <p:spPr>
          <a:xfrm>
            <a:off x="215900" y="801688"/>
            <a:ext cx="7127875" cy="4010025"/>
          </a:xfrm>
          <a:prstGeom prst="rect">
            <a:avLst/>
          </a:prstGeom>
          <a:noFill/>
          <a:ln w="12700">
            <a:solidFill>
              <a:prstClr val="black"/>
            </a:solidFill>
          </a:ln>
        </p:spPr>
        <p:txBody>
          <a:bodyPr vert="horz" lIns="91440" tIns="45720" rIns="91440" bIns="45720" rtlCol="0" anchor="ctr"/>
          <a:lstStyle/>
          <a:p>
            <a:endParaRPr lang="es-AR"/>
          </a:p>
        </p:txBody>
      </p:sp>
      <p:sp>
        <p:nvSpPr>
          <p:cNvPr id="5" name="4 Marcador de notas"/>
          <p:cNvSpPr>
            <a:spLocks noGrp="1"/>
          </p:cNvSpPr>
          <p:nvPr>
            <p:ph type="body" sz="quarter" idx="3"/>
          </p:nvPr>
        </p:nvSpPr>
        <p:spPr>
          <a:xfrm>
            <a:off x="755650" y="5078413"/>
            <a:ext cx="6048375" cy="4811712"/>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5 Marcador de pie de página"/>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es-AR"/>
          </a:p>
        </p:txBody>
      </p:sp>
      <p:sp>
        <p:nvSpPr>
          <p:cNvPr id="7" name="6 Marcador de número de diapositiva"/>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B5D190EB-718C-4D99-83E6-7439F134D3BC}" type="slidenum">
              <a:rPr lang="es-AR" smtClean="0"/>
              <a:t>‹Nº›</a:t>
            </a:fld>
            <a:endParaRPr lang="es-AR"/>
          </a:p>
        </p:txBody>
      </p:sp>
    </p:spTree>
    <p:extLst>
      <p:ext uri="{BB962C8B-B14F-4D97-AF65-F5344CB8AC3E}">
        <p14:creationId xmlns:p14="http://schemas.microsoft.com/office/powerpoint/2010/main" val="2881044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B5D190EB-718C-4D99-83E6-7439F134D3BC}" type="slidenum">
              <a:rPr lang="es-AR" smtClean="0"/>
              <a:t>12</a:t>
            </a:fld>
            <a:endParaRPr lang="es-AR"/>
          </a:p>
        </p:txBody>
      </p:sp>
    </p:spTree>
    <p:extLst>
      <p:ext uri="{BB962C8B-B14F-4D97-AF65-F5344CB8AC3E}">
        <p14:creationId xmlns:p14="http://schemas.microsoft.com/office/powerpoint/2010/main" val="26892253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B5D190EB-718C-4D99-83E6-7439F134D3BC}" type="slidenum">
              <a:rPr lang="es-AR" smtClean="0"/>
              <a:t>13</a:t>
            </a:fld>
            <a:endParaRPr lang="es-AR"/>
          </a:p>
        </p:txBody>
      </p:sp>
    </p:spTree>
    <p:extLst>
      <p:ext uri="{BB962C8B-B14F-4D97-AF65-F5344CB8AC3E}">
        <p14:creationId xmlns:p14="http://schemas.microsoft.com/office/powerpoint/2010/main" val="2155000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B5D190EB-718C-4D99-83E6-7439F134D3BC}" type="slidenum">
              <a:rPr lang="es-AR" smtClean="0"/>
              <a:t>14</a:t>
            </a:fld>
            <a:endParaRPr lang="es-AR"/>
          </a:p>
        </p:txBody>
      </p:sp>
    </p:spTree>
    <p:extLst>
      <p:ext uri="{BB962C8B-B14F-4D97-AF65-F5344CB8AC3E}">
        <p14:creationId xmlns:p14="http://schemas.microsoft.com/office/powerpoint/2010/main" val="418201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B5D190EB-718C-4D99-83E6-7439F134D3BC}" type="slidenum">
              <a:rPr lang="es-AR" smtClean="0"/>
              <a:t>15</a:t>
            </a:fld>
            <a:endParaRPr lang="es-AR"/>
          </a:p>
        </p:txBody>
      </p:sp>
    </p:spTree>
    <p:extLst>
      <p:ext uri="{BB962C8B-B14F-4D97-AF65-F5344CB8AC3E}">
        <p14:creationId xmlns:p14="http://schemas.microsoft.com/office/powerpoint/2010/main" val="6802663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B5D190EB-718C-4D99-83E6-7439F134D3BC}" type="slidenum">
              <a:rPr lang="es-AR" smtClean="0"/>
              <a:t>16</a:t>
            </a:fld>
            <a:endParaRPr lang="es-AR"/>
          </a:p>
        </p:txBody>
      </p:sp>
    </p:spTree>
    <p:extLst>
      <p:ext uri="{BB962C8B-B14F-4D97-AF65-F5344CB8AC3E}">
        <p14:creationId xmlns:p14="http://schemas.microsoft.com/office/powerpoint/2010/main" val="42221175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B5D190EB-718C-4D99-83E6-7439F134D3BC}" type="slidenum">
              <a:rPr lang="es-AR" smtClean="0"/>
              <a:t>17</a:t>
            </a:fld>
            <a:endParaRPr lang="es-AR"/>
          </a:p>
        </p:txBody>
      </p:sp>
    </p:spTree>
    <p:extLst>
      <p:ext uri="{BB962C8B-B14F-4D97-AF65-F5344CB8AC3E}">
        <p14:creationId xmlns:p14="http://schemas.microsoft.com/office/powerpoint/2010/main" val="1800077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B5D190EB-718C-4D99-83E6-7439F134D3BC}" type="slidenum">
              <a:rPr lang="es-AR" smtClean="0"/>
              <a:t>18</a:t>
            </a:fld>
            <a:endParaRPr lang="es-AR"/>
          </a:p>
        </p:txBody>
      </p:sp>
    </p:spTree>
    <p:extLst>
      <p:ext uri="{BB962C8B-B14F-4D97-AF65-F5344CB8AC3E}">
        <p14:creationId xmlns:p14="http://schemas.microsoft.com/office/powerpoint/2010/main" val="2301759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B5D190EB-718C-4D99-83E6-7439F134D3BC}" type="slidenum">
              <a:rPr lang="es-AR" smtClean="0"/>
              <a:t>19</a:t>
            </a:fld>
            <a:endParaRPr lang="es-AR"/>
          </a:p>
        </p:txBody>
      </p:sp>
    </p:spTree>
    <p:extLst>
      <p:ext uri="{BB962C8B-B14F-4D97-AF65-F5344CB8AC3E}">
        <p14:creationId xmlns:p14="http://schemas.microsoft.com/office/powerpoint/2010/main" val="848558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AR" dirty="0"/>
          </a:p>
        </p:txBody>
      </p:sp>
      <p:sp>
        <p:nvSpPr>
          <p:cNvPr id="4" name="3 Marcador de número de diapositiva"/>
          <p:cNvSpPr>
            <a:spLocks noGrp="1"/>
          </p:cNvSpPr>
          <p:nvPr>
            <p:ph type="sldNum" sz="quarter" idx="10"/>
          </p:nvPr>
        </p:nvSpPr>
        <p:spPr/>
        <p:txBody>
          <a:bodyPr/>
          <a:lstStyle/>
          <a:p>
            <a:fld id="{B5D190EB-718C-4D99-83E6-7439F134D3BC}" type="slidenum">
              <a:rPr lang="es-AR" smtClean="0"/>
              <a:t>20</a:t>
            </a:fld>
            <a:endParaRPr lang="es-AR"/>
          </a:p>
        </p:txBody>
      </p:sp>
    </p:spTree>
    <p:extLst>
      <p:ext uri="{BB962C8B-B14F-4D97-AF65-F5344CB8AC3E}">
        <p14:creationId xmlns:p14="http://schemas.microsoft.com/office/powerpoint/2010/main" val="97641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2" name="1 Título"/>
          <p:cNvSpPr>
            <a:spLocks noGrp="1"/>
          </p:cNvSpPr>
          <p:nvPr>
            <p:ph type="ctrTitle" hasCustomPrompt="1"/>
          </p:nvPr>
        </p:nvSpPr>
        <p:spPr>
          <a:xfrm>
            <a:off x="407368" y="1556792"/>
            <a:ext cx="9505056" cy="1470025"/>
          </a:xfrm>
        </p:spPr>
        <p:txBody>
          <a:bodyPr anchor="t">
            <a:normAutofit/>
          </a:bodyPr>
          <a:lstStyle>
            <a:lvl1pPr algn="l">
              <a:defRPr sz="4000" b="1" baseline="0">
                <a:solidFill>
                  <a:schemeClr val="bg1"/>
                </a:solidFill>
              </a:defRPr>
            </a:lvl1pPr>
          </a:lstStyle>
          <a:p>
            <a:r>
              <a:rPr lang="es-AR" dirty="0"/>
              <a:t>Titulo</a:t>
            </a:r>
          </a:p>
        </p:txBody>
      </p:sp>
    </p:spTree>
    <p:extLst>
      <p:ext uri="{BB962C8B-B14F-4D97-AF65-F5344CB8AC3E}">
        <p14:creationId xmlns:p14="http://schemas.microsoft.com/office/powerpoint/2010/main" val="913158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4" name="1 Título"/>
          <p:cNvSpPr>
            <a:spLocks noGrp="1"/>
          </p:cNvSpPr>
          <p:nvPr>
            <p:ph type="ctrTitle" hasCustomPrompt="1"/>
          </p:nvPr>
        </p:nvSpPr>
        <p:spPr>
          <a:xfrm>
            <a:off x="695400" y="188640"/>
            <a:ext cx="8568952" cy="1224135"/>
          </a:xfrm>
          <a:prstGeom prst="rect">
            <a:avLst/>
          </a:prstGeom>
        </p:spPr>
        <p:txBody>
          <a:bodyPr anchor="t">
            <a:normAutofit/>
          </a:bodyPr>
          <a:lstStyle>
            <a:lvl1pPr algn="l">
              <a:defRPr sz="3200" b="1" baseline="0">
                <a:solidFill>
                  <a:schemeClr val="bg1"/>
                </a:solidFill>
                <a:latin typeface="Calibri" panose="020F0502020204030204" pitchFamily="34" charset="0"/>
              </a:defRPr>
            </a:lvl1pPr>
          </a:lstStyle>
          <a:p>
            <a:r>
              <a:rPr lang="es-AR" dirty="0"/>
              <a:t>Titulo</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03195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2 Marcador de texto"/>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fecha"/>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AA382F-DDB2-4C92-919B-30FBF2990146}" type="datetimeFigureOut">
              <a:rPr lang="es-AR" smtClean="0"/>
              <a:t>8/8/2023</a:t>
            </a:fld>
            <a:endParaRPr lang="es-AR" dirty="0"/>
          </a:p>
        </p:txBody>
      </p:sp>
      <p:sp>
        <p:nvSpPr>
          <p:cNvPr id="5" name="4 Marcador de pie de página"/>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dirty="0"/>
          </a:p>
        </p:txBody>
      </p:sp>
      <p:sp>
        <p:nvSpPr>
          <p:cNvPr id="6" name="5 Marcador de número de diapositiva"/>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A662EB-3C08-47A3-9C40-5CAEC6F9675E}" type="slidenum">
              <a:rPr lang="es-AR" smtClean="0"/>
              <a:t>‹Nº›</a:t>
            </a:fld>
            <a:endParaRPr lang="es-AR" dirty="0"/>
          </a:p>
        </p:txBody>
      </p:sp>
      <p:pic>
        <p:nvPicPr>
          <p:cNvPr id="7" name="Imagen 11">
            <a:extLst>
              <a:ext uri="{FF2B5EF4-FFF2-40B4-BE49-F238E27FC236}">
                <a16:creationId xmlns:a16="http://schemas.microsoft.com/office/drawing/2014/main" id="{A71E67B4-45AB-43BE-B4C9-90CC14AAC790}"/>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838107898"/>
      </p:ext>
    </p:extLst>
  </p:cSld>
  <p:clrMap bg1="lt1" tx1="dk1" bg2="lt2" tx2="dk2" accent1="accent1" accent2="accent2" accent3="accent3" accent4="accent4" accent5="accent5" accent6="accent6" hlink="hlink" folHlink="folHlink"/>
  <p:sldLayoutIdLst>
    <p:sldLayoutId id="2147483664"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8" name="Imagen 10"/>
          <p:cNvPicPr/>
          <p:nvPr/>
        </p:nvPicPr>
        <p:blipFill>
          <a:blip r:embed="rId3"/>
          <a:stretch/>
        </p:blipFill>
        <p:spPr>
          <a:xfrm>
            <a:off x="0" y="0"/>
            <a:ext cx="12189240" cy="6855120"/>
          </a:xfrm>
          <a:prstGeom prst="rect">
            <a:avLst/>
          </a:prstGeom>
          <a:ln>
            <a:noFill/>
          </a:ln>
        </p:spPr>
      </p:pic>
    </p:spTree>
  </p:cSld>
  <p:clrMap bg1="lt1" tx1="dk1" bg2="lt2" tx2="dk2" accent1="accent1" accent2="accent2" accent3="accent3" accent4="accent4" accent5="accent5" accent6="accent6" hlink="hlink" folHlink="folHlink"/>
  <p:sldLayoutIdLst>
    <p:sldLayoutId id="2147483662" r:id="rId1"/>
  </p:sldLayoutIdLst>
  <p:txStyles>
    <p:titleStyle>
      <a:lvl1pPr>
        <a:defRPr sz="3600">
          <a:solidFill>
            <a:schemeClr val="bg1"/>
          </a:solidFill>
        </a:defRPr>
      </a:lvl1pPr>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1" name="Imagen 11">
            <a:extLst>
              <a:ext uri="{FF2B5EF4-FFF2-40B4-BE49-F238E27FC236}">
                <a16:creationId xmlns:a16="http://schemas.microsoft.com/office/drawing/2014/main" id="{A71E67B4-45AB-43BE-B4C9-90CC14AAC790}"/>
              </a:ext>
            </a:extLst>
          </p:cNvPr>
          <p:cNvPicPr>
            <a:picLocks noChangeAspect="1"/>
          </p:cNvPicPr>
          <p:nvPr/>
        </p:nvPicPr>
        <p:blipFill>
          <a:blip r:embed="rId3">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8" name="Picture 1"/>
          <p:cNvPicPr/>
          <p:nvPr/>
        </p:nvPicPr>
        <p:blipFill>
          <a:blip r:embed="rId4"/>
          <a:stretch/>
        </p:blipFill>
        <p:spPr>
          <a:xfrm>
            <a:off x="3923280" y="2806560"/>
            <a:ext cx="2661120" cy="1349640"/>
          </a:xfrm>
          <a:prstGeom prst="rect">
            <a:avLst/>
          </a:prstGeom>
          <a:ln>
            <a:noFill/>
          </a:ln>
        </p:spPr>
      </p:pic>
      <p:pic>
        <p:nvPicPr>
          <p:cNvPr id="9" name="Picture 2"/>
          <p:cNvPicPr/>
          <p:nvPr/>
        </p:nvPicPr>
        <p:blipFill>
          <a:blip r:embed="rId5"/>
          <a:stretch/>
        </p:blipFill>
        <p:spPr>
          <a:xfrm>
            <a:off x="1259280" y="2806560"/>
            <a:ext cx="2661120" cy="1349640"/>
          </a:xfrm>
          <a:prstGeom prst="rect">
            <a:avLst/>
          </a:prstGeom>
          <a:ln>
            <a:noFill/>
          </a:ln>
        </p:spPr>
      </p:pic>
      <p:sp>
        <p:nvSpPr>
          <p:cNvPr id="10" name="CustomShape 1"/>
          <p:cNvSpPr/>
          <p:nvPr/>
        </p:nvSpPr>
        <p:spPr>
          <a:xfrm>
            <a:off x="1631504" y="1700808"/>
            <a:ext cx="5987684" cy="93610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es-AR" sz="5400" b="1" spc="-1" dirty="0">
                <a:solidFill>
                  <a:srgbClr val="FFFFFF"/>
                </a:solidFill>
                <a:uFill>
                  <a:solidFill>
                    <a:srgbClr val="FFFFFF"/>
                  </a:solidFill>
                </a:uFill>
                <a:latin typeface="Calibri"/>
              </a:rPr>
              <a:t>Gracias</a:t>
            </a:r>
            <a:endParaRPr lang="es-AR" sz="2400" b="0" strike="noStrike" spc="-1" dirty="0">
              <a:solidFill>
                <a:srgbClr val="000000"/>
              </a:solidFill>
              <a:uFill>
                <a:solidFill>
                  <a:srgbClr val="FFFFFF"/>
                </a:solidFill>
              </a:uFill>
              <a:latin typeface="Arial"/>
            </a:endParaRPr>
          </a:p>
        </p:txBody>
      </p:sp>
    </p:spTree>
    <p:extLst>
      <p:ext uri="{BB962C8B-B14F-4D97-AF65-F5344CB8AC3E}">
        <p14:creationId xmlns:p14="http://schemas.microsoft.com/office/powerpoint/2010/main" val="1694492562"/>
      </p:ext>
    </p:extLst>
  </p:cSld>
  <p:clrMap bg1="lt1" tx1="dk1" bg2="lt2" tx2="dk2" accent1="accent1" accent2="accent2" accent3="accent3" accent4="accent4" accent5="accent5" accent6="accent6" hlink="hlink" folHlink="folHlink"/>
  <p:sldLayoutIdLst>
    <p:sldLayoutId id="214748366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hdphoto" Target="../media/hdphoto3.wdp"/><Relationship Id="rId3" Type="http://schemas.microsoft.com/office/2007/relationships/hdphoto" Target="../media/hdphoto1.wdp"/><Relationship Id="rId7" Type="http://schemas.openxmlformats.org/officeDocument/2006/relationships/image" Target="../media/image8.png"/><Relationship Id="rId12" Type="http://schemas.microsoft.com/office/2007/relationships/hdphoto" Target="../media/hdphoto5.wdp"/><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0.png"/><Relationship Id="rId5" Type="http://schemas.microsoft.com/office/2007/relationships/hdphoto" Target="../media/hdphoto2.wdp"/><Relationship Id="rId10" Type="http://schemas.microsoft.com/office/2007/relationships/hdphoto" Target="../media/hdphoto4.wdp"/><Relationship Id="rId4" Type="http://schemas.openxmlformats.org/officeDocument/2006/relationships/image" Target="../media/image6.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microsoft.com/office/2007/relationships/hdphoto" Target="../media/hdphoto5.wdp"/><Relationship Id="rId3" Type="http://schemas.microsoft.com/office/2007/relationships/hdphoto" Target="../media/hdphoto2.wdp"/><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microsoft.com/office/2007/relationships/hdphoto" Target="../media/hdphoto3.wdp"/><Relationship Id="rId11" Type="http://schemas.openxmlformats.org/officeDocument/2006/relationships/image" Target="../media/image12.png"/><Relationship Id="rId5" Type="http://schemas.openxmlformats.org/officeDocument/2006/relationships/image" Target="../media/image8.png"/><Relationship Id="rId10" Type="http://schemas.microsoft.com/office/2007/relationships/hdphoto" Target="../media/hdphoto6.wdp"/><Relationship Id="rId4" Type="http://schemas.openxmlformats.org/officeDocument/2006/relationships/image" Target="../media/image7.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microsoft.com/office/2007/relationships/hdphoto" Target="../media/hdphoto5.wdp"/><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0.png"/><Relationship Id="rId5" Type="http://schemas.microsoft.com/office/2007/relationships/hdphoto" Target="../media/hdphoto6.wdp"/><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3.png"/><Relationship Id="rId7" Type="http://schemas.microsoft.com/office/2007/relationships/hdphoto" Target="../media/hdphoto7.wdp"/><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3.png"/><Relationship Id="rId5" Type="http://schemas.openxmlformats.org/officeDocument/2006/relationships/image" Target="../media/image20.png"/><Relationship Id="rId10" Type="http://schemas.microsoft.com/office/2007/relationships/hdphoto" Target="../media/hdphoto6.wdp"/><Relationship Id="rId4" Type="http://schemas.openxmlformats.org/officeDocument/2006/relationships/image" Target="../media/image19.png"/><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microsoft.com/office/2007/relationships/hdphoto" Target="../media/hdphoto7.wdp"/><Relationship Id="rId3" Type="http://schemas.openxmlformats.org/officeDocument/2006/relationships/image" Target="../media/image22.png"/><Relationship Id="rId7" Type="http://schemas.openxmlformats.org/officeDocument/2006/relationships/image" Target="../media/image21.png"/><Relationship Id="rId2" Type="http://schemas.openxmlformats.org/officeDocument/2006/relationships/image" Target="../media/image7.png"/><Relationship Id="rId1" Type="http://schemas.openxmlformats.org/officeDocument/2006/relationships/slideLayout" Target="../slideLayouts/slideLayout2.xml"/><Relationship Id="rId6" Type="http://schemas.microsoft.com/office/2007/relationships/hdphoto" Target="../media/hdphoto6.wdp"/><Relationship Id="rId5" Type="http://schemas.openxmlformats.org/officeDocument/2006/relationships/image" Target="../media/image11.png"/><Relationship Id="rId10" Type="http://schemas.openxmlformats.org/officeDocument/2006/relationships/image" Target="../media/image26.png"/><Relationship Id="rId4" Type="http://schemas.openxmlformats.org/officeDocument/2006/relationships/image" Target="../media/image24.pn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7.png"/><Relationship Id="rId1" Type="http://schemas.openxmlformats.org/officeDocument/2006/relationships/slideLayout" Target="../slideLayouts/slideLayout2.xml"/><Relationship Id="rId5" Type="http://schemas.microsoft.com/office/2007/relationships/hdphoto" Target="../media/hdphoto5.wdp"/><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jpe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jpeg"/></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ctrTitle"/>
          </p:nvPr>
        </p:nvSpPr>
        <p:spPr>
          <a:xfrm>
            <a:off x="407368" y="1556792"/>
            <a:ext cx="9505056" cy="3744416"/>
          </a:xfrm>
        </p:spPr>
        <p:txBody>
          <a:bodyPr>
            <a:normAutofit/>
          </a:bodyPr>
          <a:lstStyle/>
          <a:p>
            <a:r>
              <a:rPr lang="es-ES" dirty="0"/>
              <a:t>PROPUESTA DE MEJORA</a:t>
            </a:r>
            <a:br>
              <a:rPr lang="es-ES" dirty="0"/>
            </a:br>
            <a:br>
              <a:rPr lang="es-ES" dirty="0"/>
            </a:br>
            <a:r>
              <a:rPr lang="es-ES" dirty="0"/>
              <a:t>IMPLEMENTACIÓN VPLM</a:t>
            </a:r>
            <a:endParaRPr lang="es-ES" sz="2200" dirty="0"/>
          </a:p>
        </p:txBody>
      </p:sp>
      <p:sp>
        <p:nvSpPr>
          <p:cNvPr id="3" name="2 CuadroTexto"/>
          <p:cNvSpPr txBox="1"/>
          <p:nvPr/>
        </p:nvSpPr>
        <p:spPr>
          <a:xfrm>
            <a:off x="8688288" y="6253438"/>
            <a:ext cx="2955040" cy="461665"/>
          </a:xfrm>
          <a:prstGeom prst="rect">
            <a:avLst/>
          </a:prstGeom>
          <a:noFill/>
        </p:spPr>
        <p:txBody>
          <a:bodyPr wrap="none" rtlCol="0">
            <a:spAutoFit/>
          </a:bodyPr>
          <a:lstStyle/>
          <a:p>
            <a:r>
              <a:rPr lang="es-ES" sz="2400" dirty="0">
                <a:solidFill>
                  <a:schemeClr val="bg1"/>
                </a:solidFill>
              </a:rPr>
              <a:t>A. Denaro / L. Camayo</a:t>
            </a:r>
            <a:endParaRPr lang="es-AR" sz="2400" dirty="0">
              <a:solidFill>
                <a:schemeClr val="bg1"/>
              </a:solidFill>
            </a:endParaRPr>
          </a:p>
        </p:txBody>
      </p:sp>
    </p:spTree>
    <p:extLst>
      <p:ext uri="{BB962C8B-B14F-4D97-AF65-F5344CB8AC3E}">
        <p14:creationId xmlns:p14="http://schemas.microsoft.com/office/powerpoint/2010/main" val="153584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2"/>
          <p:cNvSpPr txBox="1"/>
          <p:nvPr/>
        </p:nvSpPr>
        <p:spPr>
          <a:xfrm>
            <a:off x="737919" y="2484512"/>
            <a:ext cx="7817763" cy="1323439"/>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1600" dirty="0">
                <a:latin typeface="+mj-lt"/>
                <a:ea typeface="League Spartan" charset="0"/>
                <a:cs typeface="Poppins SemiBold" pitchFamily="2" charset="77"/>
              </a:rPr>
              <a:t>En base a la experiencia adquirida en los últimos proyectos, desde ingeniería de producto identificamos la necesidad de incorporar un gestor VPLM (Virtual </a:t>
            </a:r>
            <a:r>
              <a:rPr lang="es-ES_tradnl" altLang="es-AR" sz="1600" dirty="0" err="1">
                <a:latin typeface="+mj-lt"/>
                <a:ea typeface="League Spartan" charset="0"/>
                <a:cs typeface="Poppins SemiBold" pitchFamily="2" charset="77"/>
              </a:rPr>
              <a:t>Product</a:t>
            </a:r>
            <a:r>
              <a:rPr lang="es-ES_tradnl" altLang="es-AR" sz="1600" dirty="0">
                <a:latin typeface="+mj-lt"/>
                <a:ea typeface="League Spartan" charset="0"/>
                <a:cs typeface="Poppins SemiBold" pitchFamily="2" charset="77"/>
              </a:rPr>
              <a:t> </a:t>
            </a:r>
            <a:r>
              <a:rPr lang="es-ES_tradnl" altLang="es-AR" sz="1600" dirty="0" err="1">
                <a:latin typeface="+mj-lt"/>
                <a:ea typeface="League Spartan" charset="0"/>
                <a:cs typeface="Poppins SemiBold" pitchFamily="2" charset="77"/>
              </a:rPr>
              <a:t>Lifecycle</a:t>
            </a:r>
            <a:r>
              <a:rPr lang="es-ES_tradnl" altLang="es-AR" sz="1600" dirty="0">
                <a:latin typeface="+mj-lt"/>
                <a:ea typeface="League Spartan" charset="0"/>
                <a:cs typeface="Poppins SemiBold" pitchFamily="2" charset="77"/>
              </a:rPr>
              <a:t> Management) en principio, para mitigar el impacto producido por cambios en el diseño en diferentes etapas del proyecto, facilitar el manejo de la información asociada a los diseños, administrar permisos en función del rol usuario, etc.</a:t>
            </a:r>
          </a:p>
        </p:txBody>
      </p:sp>
      <p:sp>
        <p:nvSpPr>
          <p:cNvPr id="6" name="TextBox 2"/>
          <p:cNvSpPr txBox="1"/>
          <p:nvPr/>
        </p:nvSpPr>
        <p:spPr>
          <a:xfrm>
            <a:off x="726509" y="4077444"/>
            <a:ext cx="7817763" cy="1815882"/>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r>
              <a:rPr lang="en-US" sz="1600" b="1" dirty="0" err="1"/>
              <a:t>Que</a:t>
            </a:r>
            <a:r>
              <a:rPr lang="en-US" sz="1600" b="1" dirty="0"/>
              <a:t> </a:t>
            </a:r>
            <a:r>
              <a:rPr lang="en-US" sz="1600" b="1" dirty="0" err="1"/>
              <a:t>problemas</a:t>
            </a:r>
            <a:r>
              <a:rPr lang="en-US" sz="1600" b="1" dirty="0"/>
              <a:t> </a:t>
            </a:r>
            <a:r>
              <a:rPr lang="en-US" sz="1600" b="1" dirty="0" err="1"/>
              <a:t>resuelve</a:t>
            </a:r>
            <a:r>
              <a:rPr lang="en-US" sz="1600" b="1" dirty="0"/>
              <a:t> un </a:t>
            </a:r>
            <a:r>
              <a:rPr lang="en-US" sz="1600" b="1" dirty="0" err="1"/>
              <a:t>gestor</a:t>
            </a:r>
            <a:r>
              <a:rPr lang="en-US" sz="1600" b="1" dirty="0"/>
              <a:t> PLM </a:t>
            </a:r>
            <a:r>
              <a:rPr lang="en-US" sz="1600" b="1" dirty="0" err="1"/>
              <a:t>básico</a:t>
            </a:r>
            <a:r>
              <a:rPr lang="en-US" sz="1600" b="1" dirty="0"/>
              <a:t>?</a:t>
            </a:r>
          </a:p>
          <a:p>
            <a:pPr marL="285750" indent="-285750">
              <a:buFont typeface="Arial" pitchFamily="34" charset="0"/>
              <a:buChar char="•"/>
            </a:pPr>
            <a:r>
              <a:rPr lang="en-US" sz="1600" dirty="0" err="1"/>
              <a:t>Administración</a:t>
            </a:r>
            <a:r>
              <a:rPr lang="en-US" sz="1600" dirty="0"/>
              <a:t> de </a:t>
            </a:r>
            <a:r>
              <a:rPr lang="en-US" sz="1600" dirty="0" err="1"/>
              <a:t>documentos</a:t>
            </a:r>
            <a:endParaRPr lang="en-US" sz="1600" dirty="0"/>
          </a:p>
          <a:p>
            <a:pPr marL="285750" indent="-285750">
              <a:buFont typeface="Arial" pitchFamily="34" charset="0"/>
              <a:buChar char="•"/>
            </a:pPr>
            <a:r>
              <a:rPr lang="en-US" sz="1600" dirty="0" err="1"/>
              <a:t>Estructura</a:t>
            </a:r>
            <a:r>
              <a:rPr lang="en-US" sz="1600" dirty="0"/>
              <a:t> de </a:t>
            </a:r>
            <a:r>
              <a:rPr lang="en-US" sz="1600" dirty="0" err="1"/>
              <a:t>producto</a:t>
            </a:r>
            <a:endParaRPr lang="en-US" sz="1600" dirty="0"/>
          </a:p>
          <a:p>
            <a:pPr marL="285750" indent="-285750">
              <a:buFont typeface="Arial" pitchFamily="34" charset="0"/>
              <a:buChar char="•"/>
            </a:pPr>
            <a:r>
              <a:rPr lang="en-US" sz="1600" dirty="0" err="1"/>
              <a:t>Configuración</a:t>
            </a:r>
            <a:r>
              <a:rPr lang="en-US" sz="1600" dirty="0"/>
              <a:t> de </a:t>
            </a:r>
            <a:r>
              <a:rPr lang="en-US" sz="1600" dirty="0" err="1"/>
              <a:t>producto</a:t>
            </a:r>
            <a:endParaRPr lang="en-US" sz="1600" dirty="0"/>
          </a:p>
          <a:p>
            <a:pPr marL="285750" indent="-285750">
              <a:buFont typeface="Arial" pitchFamily="34" charset="0"/>
              <a:buChar char="•"/>
            </a:pPr>
            <a:r>
              <a:rPr lang="en-US" sz="1600" dirty="0" err="1"/>
              <a:t>Lista</a:t>
            </a:r>
            <a:r>
              <a:rPr lang="en-US" sz="1600" dirty="0"/>
              <a:t> de </a:t>
            </a:r>
            <a:r>
              <a:rPr lang="en-US" sz="1600" dirty="0" err="1"/>
              <a:t>materiales</a:t>
            </a:r>
            <a:endParaRPr lang="en-US" sz="1600" dirty="0"/>
          </a:p>
          <a:p>
            <a:pPr marL="285750" indent="-285750">
              <a:buFont typeface="Arial" pitchFamily="34" charset="0"/>
              <a:buChar char="•"/>
            </a:pPr>
            <a:r>
              <a:rPr lang="en-US" sz="1600" dirty="0"/>
              <a:t>Control de </a:t>
            </a:r>
            <a:r>
              <a:rPr lang="en-US" sz="1600" dirty="0" err="1"/>
              <a:t>cambios</a:t>
            </a:r>
            <a:endParaRPr lang="en-US" sz="1600" dirty="0"/>
          </a:p>
          <a:p>
            <a:pPr marL="285750" indent="-285750">
              <a:buFont typeface="Arial" pitchFamily="34" charset="0"/>
              <a:buChar char="•"/>
            </a:pPr>
            <a:r>
              <a:rPr lang="en-US" sz="1600" dirty="0" err="1"/>
              <a:t>Visualización</a:t>
            </a:r>
            <a:r>
              <a:rPr lang="en-US" sz="1600" dirty="0"/>
              <a:t> de </a:t>
            </a:r>
            <a:r>
              <a:rPr lang="en-US" sz="1600" dirty="0" err="1"/>
              <a:t>información</a:t>
            </a:r>
            <a:r>
              <a:rPr lang="en-US" sz="1600" dirty="0"/>
              <a:t> 2D, 3D</a:t>
            </a:r>
          </a:p>
        </p:txBody>
      </p:sp>
      <p:sp>
        <p:nvSpPr>
          <p:cNvPr id="5"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MX" sz="2800" b="1" dirty="0">
                <a:solidFill>
                  <a:schemeClr val="bg1"/>
                </a:solidFill>
                <a:ea typeface="Open Sans Semibold" panose="020B0706030804020204" pitchFamily="34" charset="0"/>
                <a:cs typeface="Open Sans Semibold" panose="020B0706030804020204" pitchFamily="34" charset="0"/>
              </a:rPr>
              <a:t>Introducción</a:t>
            </a:r>
            <a:endParaRPr lang="es-AR" sz="2800" b="1" dirty="0">
              <a:solidFill>
                <a:schemeClr val="bg1"/>
              </a:solidFill>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2033039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2"/>
          <p:cNvSpPr txBox="1"/>
          <p:nvPr/>
        </p:nvSpPr>
        <p:spPr>
          <a:xfrm>
            <a:off x="704804" y="2792352"/>
            <a:ext cx="7817763" cy="2308324"/>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1600" dirty="0">
                <a:latin typeface="+mj-lt"/>
                <a:ea typeface="League Spartan" charset="0"/>
                <a:cs typeface="Poppins SemiBold" pitchFamily="2" charset="77"/>
              </a:rPr>
              <a:t>Resolver problemas puntuales en diferentes etapas, muchas veces impulsa desarrollos internos que dejan en evidencia ciertas falencias al momento de encarar nuevos proyectos.</a:t>
            </a:r>
          </a:p>
          <a:p>
            <a:pPr eaLnBrk="1" hangingPunct="1"/>
            <a:endParaRPr lang="es-ES_tradnl" altLang="es-AR" sz="1600" dirty="0">
              <a:latin typeface="+mj-lt"/>
              <a:ea typeface="League Spartan" charset="0"/>
              <a:cs typeface="Poppins SemiBold" pitchFamily="2" charset="77"/>
            </a:endParaRPr>
          </a:p>
          <a:p>
            <a:pPr eaLnBrk="1" hangingPunct="1"/>
            <a:r>
              <a:rPr lang="es-ES_tradnl" altLang="es-AR" sz="1600" dirty="0">
                <a:latin typeface="+mj-lt"/>
                <a:ea typeface="League Spartan" charset="0"/>
                <a:cs typeface="Poppins SemiBold" pitchFamily="2" charset="77"/>
              </a:rPr>
              <a:t>En base a la necesidad de estimar el CG de un producto complejo, compuesto por cientos de componentes, donde se requiere que cada diseñador calcule y cargue los datos de cada una de las partes que hacen a su entorno de trabajo, se empieza a desarrollar una solución a medida.</a:t>
            </a:r>
          </a:p>
          <a:p>
            <a:pPr eaLnBrk="1" hangingPunct="1"/>
            <a:endParaRPr lang="es-ES_tradnl" altLang="es-AR" sz="1600" dirty="0">
              <a:latin typeface="+mj-lt"/>
              <a:ea typeface="League Spartan" charset="0"/>
              <a:cs typeface="Poppins SemiBold" pitchFamily="2" charset="77"/>
            </a:endParaRPr>
          </a:p>
        </p:txBody>
      </p:sp>
      <p:sp>
        <p:nvSpPr>
          <p:cNvPr id="4"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MX" sz="2800" b="1" dirty="0">
                <a:solidFill>
                  <a:schemeClr val="bg1"/>
                </a:solidFill>
                <a:ea typeface="Open Sans Semibold" panose="020B0706030804020204" pitchFamily="34" charset="0"/>
                <a:cs typeface="Open Sans Semibold" panose="020B0706030804020204" pitchFamily="34" charset="0"/>
              </a:rPr>
              <a:t>Problemas puntuales</a:t>
            </a:r>
            <a:endParaRPr lang="es-AR" sz="2800" b="1" dirty="0">
              <a:solidFill>
                <a:schemeClr val="bg1"/>
              </a:solidFill>
              <a:ea typeface="Open Sans Semibold" panose="020B0706030804020204" pitchFamily="34" charset="0"/>
              <a:cs typeface="Open Sans Semibold" panose="020B0706030804020204" pitchFamily="34" charset="0"/>
            </a:endParaRPr>
          </a:p>
        </p:txBody>
      </p:sp>
      <p:sp>
        <p:nvSpPr>
          <p:cNvPr id="5" name="TextBox 2"/>
          <p:cNvSpPr txBox="1"/>
          <p:nvPr/>
        </p:nvSpPr>
        <p:spPr>
          <a:xfrm>
            <a:off x="726508" y="2031958"/>
            <a:ext cx="5225475" cy="400110"/>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2000" b="1" dirty="0">
                <a:latin typeface="+mj-lt"/>
                <a:ea typeface="League Spartan" charset="0"/>
                <a:cs typeface="Poppins SemiBold" pitchFamily="2" charset="77"/>
              </a:rPr>
              <a:t>Cálculo del CG.</a:t>
            </a:r>
          </a:p>
        </p:txBody>
      </p:sp>
    </p:spTree>
    <p:extLst>
      <p:ext uri="{BB962C8B-B14F-4D97-AF65-F5344CB8AC3E}">
        <p14:creationId xmlns:p14="http://schemas.microsoft.com/office/powerpoint/2010/main" val="176560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726508" y="2031958"/>
            <a:ext cx="5225475" cy="400110"/>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2000" b="1" dirty="0">
                <a:latin typeface="+mj-lt"/>
                <a:ea typeface="League Spartan" charset="0"/>
                <a:cs typeface="Poppins SemiBold" pitchFamily="2" charset="77"/>
              </a:rPr>
              <a:t>La forma de trabajo actual.</a:t>
            </a:r>
          </a:p>
        </p:txBody>
      </p:sp>
      <p:sp>
        <p:nvSpPr>
          <p:cNvPr id="8" name="TextBox 2"/>
          <p:cNvSpPr txBox="1"/>
          <p:nvPr/>
        </p:nvSpPr>
        <p:spPr>
          <a:xfrm>
            <a:off x="693667" y="2569925"/>
            <a:ext cx="7817763" cy="1323439"/>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1600" dirty="0">
                <a:latin typeface="+mj-lt"/>
                <a:ea typeface="League Spartan" charset="0"/>
                <a:cs typeface="Poppins SemiBold" pitchFamily="2" charset="77"/>
              </a:rPr>
              <a:t>Cada usuario, espera su turno para poder acceder a la tabla de diseño.</a:t>
            </a:r>
          </a:p>
          <a:p>
            <a:pPr eaLnBrk="1" hangingPunct="1"/>
            <a:r>
              <a:rPr lang="es-ES_tradnl" altLang="es-AR" sz="1600" dirty="0">
                <a:latin typeface="+mj-lt"/>
                <a:ea typeface="League Spartan" charset="0"/>
                <a:cs typeface="Poppins SemiBold" pitchFamily="2" charset="77"/>
              </a:rPr>
              <a:t>El usuario toma los datos obtenidos en CATIA y los introduce manualmente en la tabla.</a:t>
            </a:r>
          </a:p>
          <a:p>
            <a:pPr eaLnBrk="1" hangingPunct="1"/>
            <a:endParaRPr lang="es-ES_tradnl" altLang="es-AR" sz="1600" dirty="0">
              <a:latin typeface="+mj-lt"/>
              <a:ea typeface="League Spartan" charset="0"/>
              <a:cs typeface="Poppins SemiBold" pitchFamily="2" charset="77"/>
            </a:endParaRPr>
          </a:p>
          <a:p>
            <a:pPr eaLnBrk="1" hangingPunct="1"/>
            <a:endParaRPr lang="es-ES_tradnl" altLang="es-AR" sz="1600" dirty="0">
              <a:latin typeface="+mj-lt"/>
              <a:ea typeface="League Spartan" charset="0"/>
              <a:cs typeface="Poppins SemiBold" pitchFamily="2" charset="77"/>
            </a:endParaRPr>
          </a:p>
        </p:txBody>
      </p:sp>
      <p:pic>
        <p:nvPicPr>
          <p:cNvPr id="9" name="Picture 3"/>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100000" l="1124" r="96629"/>
                    </a14:imgEffect>
                  </a14:imgLayer>
                </a14:imgProps>
              </a:ext>
              <a:ext uri="{28A0092B-C50C-407E-A947-70E740481C1C}">
                <a14:useLocalDpi xmlns:a14="http://schemas.microsoft.com/office/drawing/2010/main" val="0"/>
              </a:ext>
            </a:extLst>
          </a:blip>
          <a:srcRect/>
          <a:stretch>
            <a:fillRect/>
          </a:stretch>
        </p:blipFill>
        <p:spPr bwMode="auto">
          <a:xfrm>
            <a:off x="7007632" y="5173500"/>
            <a:ext cx="847270" cy="82823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2" name="11 Grupo"/>
          <p:cNvGrpSpPr/>
          <p:nvPr/>
        </p:nvGrpSpPr>
        <p:grpSpPr>
          <a:xfrm>
            <a:off x="-1824880" y="4900040"/>
            <a:ext cx="1585780" cy="1375148"/>
            <a:chOff x="2511088" y="5364959"/>
            <a:chExt cx="1585780" cy="1375148"/>
          </a:xfrm>
        </p:grpSpPr>
        <p:sp>
          <p:nvSpPr>
            <p:cNvPr id="4" name="3 Rectángulo"/>
            <p:cNvSpPr/>
            <p:nvPr/>
          </p:nvSpPr>
          <p:spPr>
            <a:xfrm>
              <a:off x="2511088" y="5618518"/>
              <a:ext cx="1585780" cy="894710"/>
            </a:xfrm>
            <a:prstGeom prst="rect">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6" name="Picture 2"/>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0" b="100000" l="2679" r="100000"/>
                      </a14:imgEffect>
                    </a14:imgLayer>
                  </a14:imgProps>
                </a:ext>
                <a:ext uri="{28A0092B-C50C-407E-A947-70E740481C1C}">
                  <a14:useLocalDpi xmlns:a14="http://schemas.microsoft.com/office/drawing/2010/main" val="0"/>
                </a:ext>
              </a:extLst>
            </a:blip>
            <a:srcRect/>
            <a:stretch>
              <a:fillRect/>
            </a:stretch>
          </p:blipFill>
          <p:spPr bwMode="auto">
            <a:xfrm>
              <a:off x="3431704" y="5718678"/>
              <a:ext cx="626369" cy="620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41736" t="39198" r="41771" b="39135"/>
            <a:stretch/>
          </p:blipFill>
          <p:spPr bwMode="auto">
            <a:xfrm>
              <a:off x="2567608" y="5805264"/>
              <a:ext cx="648184" cy="478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10920" b="98276" l="439" r="100000"/>
                      </a14:imgEffect>
                    </a14:imgLayer>
                  </a14:imgProps>
                </a:ext>
                <a:ext uri="{28A0092B-C50C-407E-A947-70E740481C1C}">
                  <a14:useLocalDpi xmlns:a14="http://schemas.microsoft.com/office/drawing/2010/main" val="0"/>
                </a:ext>
              </a:extLst>
            </a:blip>
            <a:srcRect/>
            <a:stretch>
              <a:fillRect/>
            </a:stretch>
          </p:blipFill>
          <p:spPr bwMode="auto">
            <a:xfrm>
              <a:off x="3048635" y="5364959"/>
              <a:ext cx="696253" cy="53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3"/>
            <p:cNvPicPr>
              <a:picLocks noChangeAspect="1" noChangeArrowheads="1"/>
            </p:cNvPicPr>
            <p:nvPr/>
          </p:nvPicPr>
          <p:blipFill>
            <a:blip r:embed="rId9" cstate="print">
              <a:extLst>
                <a:ext uri="{BEBA8EAE-BF5A-486C-A8C5-ECC9F3942E4B}">
                  <a14:imgProps xmlns:a14="http://schemas.microsoft.com/office/drawing/2010/main">
                    <a14:imgLayer r:embed="rId10">
                      <a14:imgEffect>
                        <a14:backgroundRemoval t="10920" b="98276" l="439" r="100000"/>
                      </a14:imgEffect>
                    </a14:imgLayer>
                  </a14:imgProps>
                </a:ext>
                <a:ext uri="{28A0092B-C50C-407E-A947-70E740481C1C}">
                  <a14:useLocalDpi xmlns:a14="http://schemas.microsoft.com/office/drawing/2010/main" val="0"/>
                </a:ext>
              </a:extLst>
            </a:blip>
            <a:srcRect/>
            <a:stretch>
              <a:fillRect/>
            </a:stretch>
          </p:blipFill>
          <p:spPr bwMode="auto">
            <a:xfrm rot="11077743">
              <a:off x="3048635" y="6208756"/>
              <a:ext cx="696253" cy="53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028" name="Picture 4"/>
          <p:cNvPicPr>
            <a:picLocks noChangeAspect="1" noChangeArrowheads="1"/>
          </p:cNvPicPr>
          <p:nvPr/>
        </p:nvPicPr>
        <p:blipFill>
          <a:blip r:embed="rId11" cstate="print">
            <a:extLst>
              <a:ext uri="{BEBA8EAE-BF5A-486C-A8C5-ECC9F3942E4B}">
                <a14:imgProps xmlns:a14="http://schemas.microsoft.com/office/drawing/2010/main">
                  <a14:imgLayer r:embed="rId12">
                    <a14:imgEffect>
                      <a14:backgroundRemoval t="5042" b="89916" l="1746" r="100000">
                        <a14:foregroundMark x1="23691" y1="65546" x2="56608" y2="69748"/>
                        <a14:foregroundMark x1="58853" y1="68908" x2="92269" y2="58824"/>
                        <a14:foregroundMark x1="93267" y1="62185" x2="97257" y2="49580"/>
                        <a14:foregroundMark x1="95761" y1="24370" x2="97007" y2="52101"/>
                        <a14:foregroundMark x1="67581" y1="31092" x2="91272" y2="22689"/>
                        <a14:foregroundMark x1="24688" y1="26891" x2="66085" y2="31092"/>
                        <a14:foregroundMark x1="6484" y1="52941" x2="17955" y2="84874"/>
                        <a14:foregroundMark x1="18204" y1="83193" x2="25935" y2="70588"/>
                        <a14:foregroundMark x1="24688" y1="76471" x2="19202" y2="84034"/>
                        <a14:foregroundMark x1="3741" y1="46218" x2="15960" y2="82353"/>
                        <a14:foregroundMark x1="5486" y1="43697" x2="4988" y2="36134"/>
                        <a14:foregroundMark x1="4738" y1="41176" x2="2494" y2="36975"/>
                        <a14:foregroundMark x1="2494" y1="36134" x2="18454" y2="5042"/>
                        <a14:foregroundMark x1="19950" y1="7563" x2="23192" y2="5882"/>
                        <a14:foregroundMark x1="23691" y1="10924" x2="26683" y2="22689"/>
                      </a14:backgroundRemoval>
                    </a14:imgEffect>
                  </a14:imgLayer>
                </a14:imgProps>
              </a:ext>
              <a:ext uri="{28A0092B-C50C-407E-A947-70E740481C1C}">
                <a14:useLocalDpi xmlns:a14="http://schemas.microsoft.com/office/drawing/2010/main" val="0"/>
              </a:ext>
            </a:extLst>
          </a:blip>
          <a:srcRect/>
          <a:stretch>
            <a:fillRect/>
          </a:stretch>
        </p:blipFill>
        <p:spPr bwMode="auto">
          <a:xfrm rot="10634237">
            <a:off x="5804418" y="5410379"/>
            <a:ext cx="1194475" cy="354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1" name="40 Grupo"/>
          <p:cNvGrpSpPr/>
          <p:nvPr/>
        </p:nvGrpSpPr>
        <p:grpSpPr>
          <a:xfrm>
            <a:off x="2009660" y="3199821"/>
            <a:ext cx="1585780" cy="1375148"/>
            <a:chOff x="2511088" y="5364959"/>
            <a:chExt cx="1585780" cy="1375148"/>
          </a:xfrm>
        </p:grpSpPr>
        <p:sp>
          <p:nvSpPr>
            <p:cNvPr id="42" name="41 Rectángulo"/>
            <p:cNvSpPr/>
            <p:nvPr/>
          </p:nvSpPr>
          <p:spPr>
            <a:xfrm>
              <a:off x="2511088" y="5618518"/>
              <a:ext cx="1585780" cy="894710"/>
            </a:xfrm>
            <a:prstGeom prst="rect">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43" name="Picture 2"/>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0" b="100000" l="2679" r="100000"/>
                      </a14:imgEffect>
                    </a14:imgLayer>
                  </a14:imgProps>
                </a:ext>
                <a:ext uri="{28A0092B-C50C-407E-A947-70E740481C1C}">
                  <a14:useLocalDpi xmlns:a14="http://schemas.microsoft.com/office/drawing/2010/main" val="0"/>
                </a:ext>
              </a:extLst>
            </a:blip>
            <a:srcRect/>
            <a:stretch>
              <a:fillRect/>
            </a:stretch>
          </p:blipFill>
          <p:spPr bwMode="auto">
            <a:xfrm>
              <a:off x="3431704" y="5718678"/>
              <a:ext cx="626369" cy="620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2"/>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41736" t="39198" r="41771" b="39135"/>
            <a:stretch/>
          </p:blipFill>
          <p:spPr bwMode="auto">
            <a:xfrm>
              <a:off x="2567608" y="5805264"/>
              <a:ext cx="648184" cy="478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3"/>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10920" b="98276" l="439" r="100000"/>
                      </a14:imgEffect>
                    </a14:imgLayer>
                  </a14:imgProps>
                </a:ext>
                <a:ext uri="{28A0092B-C50C-407E-A947-70E740481C1C}">
                  <a14:useLocalDpi xmlns:a14="http://schemas.microsoft.com/office/drawing/2010/main" val="0"/>
                </a:ext>
              </a:extLst>
            </a:blip>
            <a:srcRect/>
            <a:stretch>
              <a:fillRect/>
            </a:stretch>
          </p:blipFill>
          <p:spPr bwMode="auto">
            <a:xfrm>
              <a:off x="3048635" y="5364959"/>
              <a:ext cx="696253" cy="53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 name="Picture 3"/>
            <p:cNvPicPr>
              <a:picLocks noChangeAspect="1" noChangeArrowheads="1"/>
            </p:cNvPicPr>
            <p:nvPr/>
          </p:nvPicPr>
          <p:blipFill>
            <a:blip r:embed="rId9" cstate="print">
              <a:extLst>
                <a:ext uri="{BEBA8EAE-BF5A-486C-A8C5-ECC9F3942E4B}">
                  <a14:imgProps xmlns:a14="http://schemas.microsoft.com/office/drawing/2010/main">
                    <a14:imgLayer r:embed="rId10">
                      <a14:imgEffect>
                        <a14:backgroundRemoval t="10920" b="98276" l="439" r="100000"/>
                      </a14:imgEffect>
                    </a14:imgLayer>
                  </a14:imgProps>
                </a:ext>
                <a:ext uri="{28A0092B-C50C-407E-A947-70E740481C1C}">
                  <a14:useLocalDpi xmlns:a14="http://schemas.microsoft.com/office/drawing/2010/main" val="0"/>
                </a:ext>
              </a:extLst>
            </a:blip>
            <a:srcRect/>
            <a:stretch>
              <a:fillRect/>
            </a:stretch>
          </p:blipFill>
          <p:spPr bwMode="auto">
            <a:xfrm rot="11077743">
              <a:off x="3048635" y="6208756"/>
              <a:ext cx="696253" cy="53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5" name="34 Grupo"/>
          <p:cNvGrpSpPr/>
          <p:nvPr/>
        </p:nvGrpSpPr>
        <p:grpSpPr>
          <a:xfrm>
            <a:off x="2565435" y="3559366"/>
            <a:ext cx="1585780" cy="1375148"/>
            <a:chOff x="2511088" y="5364959"/>
            <a:chExt cx="1585780" cy="1375148"/>
          </a:xfrm>
        </p:grpSpPr>
        <p:sp>
          <p:nvSpPr>
            <p:cNvPr id="36" name="35 Rectángulo"/>
            <p:cNvSpPr/>
            <p:nvPr/>
          </p:nvSpPr>
          <p:spPr>
            <a:xfrm>
              <a:off x="2511088" y="5618518"/>
              <a:ext cx="1585780" cy="894710"/>
            </a:xfrm>
            <a:prstGeom prst="rect">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37" name="Picture 2"/>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0" b="100000" l="2679" r="100000"/>
                      </a14:imgEffect>
                    </a14:imgLayer>
                  </a14:imgProps>
                </a:ext>
                <a:ext uri="{28A0092B-C50C-407E-A947-70E740481C1C}">
                  <a14:useLocalDpi xmlns:a14="http://schemas.microsoft.com/office/drawing/2010/main" val="0"/>
                </a:ext>
              </a:extLst>
            </a:blip>
            <a:srcRect/>
            <a:stretch>
              <a:fillRect/>
            </a:stretch>
          </p:blipFill>
          <p:spPr bwMode="auto">
            <a:xfrm>
              <a:off x="3431704" y="5718678"/>
              <a:ext cx="626369" cy="620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 name="Picture 2"/>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41736" t="39198" r="41771" b="39135"/>
            <a:stretch/>
          </p:blipFill>
          <p:spPr bwMode="auto">
            <a:xfrm>
              <a:off x="2567608" y="5805264"/>
              <a:ext cx="648184" cy="478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 name="Picture 3"/>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10920" b="98276" l="439" r="100000"/>
                      </a14:imgEffect>
                    </a14:imgLayer>
                  </a14:imgProps>
                </a:ext>
                <a:ext uri="{28A0092B-C50C-407E-A947-70E740481C1C}">
                  <a14:useLocalDpi xmlns:a14="http://schemas.microsoft.com/office/drawing/2010/main" val="0"/>
                </a:ext>
              </a:extLst>
            </a:blip>
            <a:srcRect/>
            <a:stretch>
              <a:fillRect/>
            </a:stretch>
          </p:blipFill>
          <p:spPr bwMode="auto">
            <a:xfrm>
              <a:off x="3048635" y="5364959"/>
              <a:ext cx="696253" cy="53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 name="Picture 3"/>
            <p:cNvPicPr>
              <a:picLocks noChangeAspect="1" noChangeArrowheads="1"/>
            </p:cNvPicPr>
            <p:nvPr/>
          </p:nvPicPr>
          <p:blipFill>
            <a:blip r:embed="rId9" cstate="print">
              <a:extLst>
                <a:ext uri="{BEBA8EAE-BF5A-486C-A8C5-ECC9F3942E4B}">
                  <a14:imgProps xmlns:a14="http://schemas.microsoft.com/office/drawing/2010/main">
                    <a14:imgLayer r:embed="rId10">
                      <a14:imgEffect>
                        <a14:backgroundRemoval t="10920" b="98276" l="439" r="100000"/>
                      </a14:imgEffect>
                    </a14:imgLayer>
                  </a14:imgProps>
                </a:ext>
                <a:ext uri="{28A0092B-C50C-407E-A947-70E740481C1C}">
                  <a14:useLocalDpi xmlns:a14="http://schemas.microsoft.com/office/drawing/2010/main" val="0"/>
                </a:ext>
              </a:extLst>
            </a:blip>
            <a:srcRect/>
            <a:stretch>
              <a:fillRect/>
            </a:stretch>
          </p:blipFill>
          <p:spPr bwMode="auto">
            <a:xfrm rot="11077743">
              <a:off x="3048635" y="6208756"/>
              <a:ext cx="696253" cy="53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9" name="28 Grupo"/>
          <p:cNvGrpSpPr/>
          <p:nvPr/>
        </p:nvGrpSpPr>
        <p:grpSpPr>
          <a:xfrm>
            <a:off x="3078199" y="3913085"/>
            <a:ext cx="1585780" cy="1375148"/>
            <a:chOff x="2511088" y="5364959"/>
            <a:chExt cx="1585780" cy="1375148"/>
          </a:xfrm>
        </p:grpSpPr>
        <p:sp>
          <p:nvSpPr>
            <p:cNvPr id="30" name="29 Rectángulo"/>
            <p:cNvSpPr/>
            <p:nvPr/>
          </p:nvSpPr>
          <p:spPr>
            <a:xfrm>
              <a:off x="2511088" y="5618518"/>
              <a:ext cx="1585780" cy="894710"/>
            </a:xfrm>
            <a:prstGeom prst="rect">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31" name="Picture 2"/>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0" b="100000" l="2679" r="100000"/>
                      </a14:imgEffect>
                    </a14:imgLayer>
                  </a14:imgProps>
                </a:ext>
                <a:ext uri="{28A0092B-C50C-407E-A947-70E740481C1C}">
                  <a14:useLocalDpi xmlns:a14="http://schemas.microsoft.com/office/drawing/2010/main" val="0"/>
                </a:ext>
              </a:extLst>
            </a:blip>
            <a:srcRect/>
            <a:stretch>
              <a:fillRect/>
            </a:stretch>
          </p:blipFill>
          <p:spPr bwMode="auto">
            <a:xfrm>
              <a:off x="3431704" y="5718678"/>
              <a:ext cx="626369" cy="620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 name="Picture 2"/>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41736" t="39198" r="41771" b="39135"/>
            <a:stretch/>
          </p:blipFill>
          <p:spPr bwMode="auto">
            <a:xfrm>
              <a:off x="2567608" y="5805264"/>
              <a:ext cx="648184" cy="478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 name="Picture 3"/>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10920" b="98276" l="439" r="100000"/>
                      </a14:imgEffect>
                    </a14:imgLayer>
                  </a14:imgProps>
                </a:ext>
                <a:ext uri="{28A0092B-C50C-407E-A947-70E740481C1C}">
                  <a14:useLocalDpi xmlns:a14="http://schemas.microsoft.com/office/drawing/2010/main" val="0"/>
                </a:ext>
              </a:extLst>
            </a:blip>
            <a:srcRect/>
            <a:stretch>
              <a:fillRect/>
            </a:stretch>
          </p:blipFill>
          <p:spPr bwMode="auto">
            <a:xfrm>
              <a:off x="3048635" y="5364959"/>
              <a:ext cx="696253" cy="53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 name="Picture 3"/>
            <p:cNvPicPr>
              <a:picLocks noChangeAspect="1" noChangeArrowheads="1"/>
            </p:cNvPicPr>
            <p:nvPr/>
          </p:nvPicPr>
          <p:blipFill>
            <a:blip r:embed="rId9" cstate="print">
              <a:extLst>
                <a:ext uri="{BEBA8EAE-BF5A-486C-A8C5-ECC9F3942E4B}">
                  <a14:imgProps xmlns:a14="http://schemas.microsoft.com/office/drawing/2010/main">
                    <a14:imgLayer r:embed="rId10">
                      <a14:imgEffect>
                        <a14:backgroundRemoval t="10920" b="98276" l="439" r="100000"/>
                      </a14:imgEffect>
                    </a14:imgLayer>
                  </a14:imgProps>
                </a:ext>
                <a:ext uri="{28A0092B-C50C-407E-A947-70E740481C1C}">
                  <a14:useLocalDpi xmlns:a14="http://schemas.microsoft.com/office/drawing/2010/main" val="0"/>
                </a:ext>
              </a:extLst>
            </a:blip>
            <a:srcRect/>
            <a:stretch>
              <a:fillRect/>
            </a:stretch>
          </p:blipFill>
          <p:spPr bwMode="auto">
            <a:xfrm rot="11077743">
              <a:off x="3048635" y="6208756"/>
              <a:ext cx="696253" cy="53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9" name="48 CuadroTexto"/>
          <p:cNvSpPr txBox="1"/>
          <p:nvPr/>
        </p:nvSpPr>
        <p:spPr>
          <a:xfrm>
            <a:off x="6130184" y="5663166"/>
            <a:ext cx="850097" cy="430887"/>
          </a:xfrm>
          <a:prstGeom prst="rect">
            <a:avLst/>
          </a:prstGeom>
          <a:noFill/>
          <a:ln>
            <a:noFill/>
          </a:ln>
        </p:spPr>
        <p:txBody>
          <a:bodyPr wrap="square" rtlCol="0">
            <a:spAutoFit/>
          </a:bodyPr>
          <a:lstStyle/>
          <a:p>
            <a:pPr algn="ctr"/>
            <a:r>
              <a:rPr lang="es-MX" sz="1100" i="1" dirty="0">
                <a:solidFill>
                  <a:schemeClr val="bg1">
                    <a:lumMod val="50000"/>
                  </a:schemeClr>
                </a:solidFill>
              </a:rPr>
              <a:t>Carga de datos</a:t>
            </a:r>
            <a:endParaRPr lang="es-AR" sz="1100" i="1" dirty="0">
              <a:solidFill>
                <a:schemeClr val="bg1">
                  <a:lumMod val="50000"/>
                </a:schemeClr>
              </a:solidFill>
            </a:endParaRPr>
          </a:p>
        </p:txBody>
      </p:sp>
      <p:sp>
        <p:nvSpPr>
          <p:cNvPr id="50" name="49 CuadroTexto"/>
          <p:cNvSpPr txBox="1"/>
          <p:nvPr/>
        </p:nvSpPr>
        <p:spPr>
          <a:xfrm>
            <a:off x="4459569" y="4309942"/>
            <a:ext cx="1236260" cy="261610"/>
          </a:xfrm>
          <a:prstGeom prst="rect">
            <a:avLst/>
          </a:prstGeom>
          <a:noFill/>
          <a:ln>
            <a:noFill/>
          </a:ln>
        </p:spPr>
        <p:txBody>
          <a:bodyPr wrap="square" rtlCol="0">
            <a:spAutoFit/>
          </a:bodyPr>
          <a:lstStyle/>
          <a:p>
            <a:pPr algn="ctr"/>
            <a:r>
              <a:rPr lang="es-MX" sz="1100" i="1" dirty="0">
                <a:solidFill>
                  <a:schemeClr val="bg1">
                    <a:lumMod val="50000"/>
                  </a:schemeClr>
                </a:solidFill>
              </a:rPr>
              <a:t>Esperando…</a:t>
            </a:r>
            <a:endParaRPr lang="es-AR" sz="1100" i="1" dirty="0">
              <a:solidFill>
                <a:schemeClr val="bg1">
                  <a:lumMod val="50000"/>
                </a:schemeClr>
              </a:solidFill>
            </a:endParaRPr>
          </a:p>
        </p:txBody>
      </p:sp>
      <p:sp>
        <p:nvSpPr>
          <p:cNvPr id="51" name="50 CuadroTexto"/>
          <p:cNvSpPr txBox="1"/>
          <p:nvPr/>
        </p:nvSpPr>
        <p:spPr>
          <a:xfrm>
            <a:off x="4007054" y="3825041"/>
            <a:ext cx="1236260" cy="261610"/>
          </a:xfrm>
          <a:prstGeom prst="rect">
            <a:avLst/>
          </a:prstGeom>
          <a:noFill/>
          <a:ln>
            <a:noFill/>
          </a:ln>
        </p:spPr>
        <p:txBody>
          <a:bodyPr wrap="square" rtlCol="0">
            <a:spAutoFit/>
          </a:bodyPr>
          <a:lstStyle/>
          <a:p>
            <a:pPr algn="ctr"/>
            <a:r>
              <a:rPr lang="es-MX" sz="1100" i="1" dirty="0">
                <a:solidFill>
                  <a:schemeClr val="bg1">
                    <a:lumMod val="50000"/>
                  </a:schemeClr>
                </a:solidFill>
              </a:rPr>
              <a:t>Esperando…</a:t>
            </a:r>
            <a:endParaRPr lang="es-AR" sz="1100" i="1" dirty="0">
              <a:solidFill>
                <a:schemeClr val="bg1">
                  <a:lumMod val="50000"/>
                </a:schemeClr>
              </a:solidFill>
            </a:endParaRPr>
          </a:p>
        </p:txBody>
      </p:sp>
      <p:sp>
        <p:nvSpPr>
          <p:cNvPr id="52" name="51 CuadroTexto"/>
          <p:cNvSpPr txBox="1"/>
          <p:nvPr/>
        </p:nvSpPr>
        <p:spPr>
          <a:xfrm>
            <a:off x="3443629" y="3465465"/>
            <a:ext cx="1236260" cy="261610"/>
          </a:xfrm>
          <a:prstGeom prst="rect">
            <a:avLst/>
          </a:prstGeom>
          <a:noFill/>
          <a:ln>
            <a:noFill/>
          </a:ln>
        </p:spPr>
        <p:txBody>
          <a:bodyPr wrap="square" rtlCol="0">
            <a:spAutoFit/>
          </a:bodyPr>
          <a:lstStyle/>
          <a:p>
            <a:pPr algn="ctr"/>
            <a:r>
              <a:rPr lang="es-MX" sz="1100" i="1" dirty="0">
                <a:solidFill>
                  <a:schemeClr val="bg1">
                    <a:lumMod val="50000"/>
                  </a:schemeClr>
                </a:solidFill>
              </a:rPr>
              <a:t>Esperando…</a:t>
            </a:r>
            <a:endParaRPr lang="es-AR" sz="1100" i="1" dirty="0">
              <a:solidFill>
                <a:schemeClr val="bg1">
                  <a:lumMod val="50000"/>
                </a:schemeClr>
              </a:solidFill>
            </a:endParaRPr>
          </a:p>
        </p:txBody>
      </p:sp>
      <p:sp>
        <p:nvSpPr>
          <p:cNvPr id="53" name="52 CuadroTexto"/>
          <p:cNvSpPr txBox="1"/>
          <p:nvPr/>
        </p:nvSpPr>
        <p:spPr>
          <a:xfrm>
            <a:off x="7668246" y="5362589"/>
            <a:ext cx="850097" cy="430887"/>
          </a:xfrm>
          <a:prstGeom prst="rect">
            <a:avLst/>
          </a:prstGeom>
          <a:noFill/>
          <a:ln>
            <a:noFill/>
          </a:ln>
        </p:spPr>
        <p:txBody>
          <a:bodyPr wrap="square" rtlCol="0">
            <a:spAutoFit/>
          </a:bodyPr>
          <a:lstStyle/>
          <a:p>
            <a:pPr algn="ctr"/>
            <a:r>
              <a:rPr lang="es-MX" sz="1100" i="1" dirty="0">
                <a:solidFill>
                  <a:schemeClr val="bg1">
                    <a:lumMod val="50000"/>
                  </a:schemeClr>
                </a:solidFill>
              </a:rPr>
              <a:t>Tabla de diseño</a:t>
            </a:r>
            <a:endParaRPr lang="es-AR" sz="1100" i="1" dirty="0">
              <a:solidFill>
                <a:schemeClr val="bg1">
                  <a:lumMod val="50000"/>
                </a:schemeClr>
              </a:solidFill>
            </a:endParaRPr>
          </a:p>
        </p:txBody>
      </p:sp>
      <p:sp>
        <p:nvSpPr>
          <p:cNvPr id="54" name="53 CuadroTexto"/>
          <p:cNvSpPr txBox="1"/>
          <p:nvPr/>
        </p:nvSpPr>
        <p:spPr>
          <a:xfrm>
            <a:off x="8518343" y="5195037"/>
            <a:ext cx="2233200" cy="830997"/>
          </a:xfrm>
          <a:prstGeom prst="rect">
            <a:avLst/>
          </a:prstGeom>
          <a:solidFill>
            <a:srgbClr val="FFC000"/>
          </a:solidFill>
          <a:ln>
            <a:solidFill>
              <a:schemeClr val="bg1">
                <a:lumMod val="65000"/>
              </a:schemeClr>
            </a:solidFill>
          </a:ln>
          <a:effectLst>
            <a:outerShdw blurRad="50800" dist="38100" dir="2700000" algn="tl" rotWithShape="0">
              <a:prstClr val="black">
                <a:alpha val="40000"/>
              </a:prstClr>
            </a:outerShdw>
          </a:effectLst>
        </p:spPr>
        <p:txBody>
          <a:bodyPr wrap="square" rtlCol="0">
            <a:spAutoFit/>
          </a:bodyPr>
          <a:lstStyle/>
          <a:p>
            <a:r>
              <a:rPr lang="es-ES" sz="1200" b="1" dirty="0">
                <a:solidFill>
                  <a:schemeClr val="tx1">
                    <a:lumMod val="75000"/>
                    <a:lumOff val="25000"/>
                  </a:schemeClr>
                </a:solidFill>
              </a:rPr>
              <a:t>Cada usuario que quiera visualizar los datos o el CG calculado, debe acceder al archivo.</a:t>
            </a:r>
            <a:endParaRPr lang="es-AR" sz="1200" dirty="0">
              <a:solidFill>
                <a:schemeClr val="tx1">
                  <a:lumMod val="75000"/>
                  <a:lumOff val="25000"/>
                </a:schemeClr>
              </a:solidFill>
            </a:endParaRPr>
          </a:p>
        </p:txBody>
      </p:sp>
      <p:sp>
        <p:nvSpPr>
          <p:cNvPr id="55"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MX" sz="2800" b="1" dirty="0">
                <a:solidFill>
                  <a:schemeClr val="bg1"/>
                </a:solidFill>
                <a:ea typeface="Open Sans Semibold" panose="020B0706030804020204" pitchFamily="34" charset="0"/>
                <a:cs typeface="Open Sans Semibold" panose="020B0706030804020204" pitchFamily="34" charset="0"/>
              </a:rPr>
              <a:t>Datos que terminan en un Excel</a:t>
            </a:r>
            <a:endParaRPr lang="es-AR" sz="2800" b="1" dirty="0">
              <a:solidFill>
                <a:schemeClr val="bg1"/>
              </a:solidFill>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1687237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4.58333E-6 -4.81481E-6 L 0.51967 0.00186 " pathEditMode="relative" rAng="0" ptsTypes="AA">
                                      <p:cBhvr>
                                        <p:cTn id="6" dur="2000" fill="hold"/>
                                        <p:tgtEl>
                                          <p:spTgt spid="12"/>
                                        </p:tgtEl>
                                        <p:attrNameLst>
                                          <p:attrName>ppt_x</p:attrName>
                                          <p:attrName>ppt_y</p:attrName>
                                        </p:attrNameLst>
                                      </p:cBhvr>
                                      <p:rCtr x="25977" y="93"/>
                                    </p:animMotion>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1000"/>
                                        <p:tgtEl>
                                          <p:spTgt spid="29"/>
                                        </p:tgtEl>
                                      </p:cBhvr>
                                    </p:animEffect>
                                    <p:anim calcmode="lin" valueType="num">
                                      <p:cBhvr>
                                        <p:cTn id="12" dur="1000" fill="hold"/>
                                        <p:tgtEl>
                                          <p:spTgt spid="29"/>
                                        </p:tgtEl>
                                        <p:attrNameLst>
                                          <p:attrName>ppt_x</p:attrName>
                                        </p:attrNameLst>
                                      </p:cBhvr>
                                      <p:tavLst>
                                        <p:tav tm="0">
                                          <p:val>
                                            <p:strVal val="#ppt_x"/>
                                          </p:val>
                                        </p:tav>
                                        <p:tav tm="100000">
                                          <p:val>
                                            <p:strVal val="#ppt_x"/>
                                          </p:val>
                                        </p:tav>
                                      </p:tavLst>
                                    </p:anim>
                                    <p:anim calcmode="lin" valueType="num">
                                      <p:cBhvr>
                                        <p:cTn id="13" dur="1000" fill="hold"/>
                                        <p:tgtEl>
                                          <p:spTgt spid="29"/>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fade">
                                      <p:cBhvr>
                                        <p:cTn id="16" dur="1000"/>
                                        <p:tgtEl>
                                          <p:spTgt spid="50"/>
                                        </p:tgtEl>
                                      </p:cBhvr>
                                    </p:animEffect>
                                    <p:anim calcmode="lin" valueType="num">
                                      <p:cBhvr>
                                        <p:cTn id="17" dur="1000" fill="hold"/>
                                        <p:tgtEl>
                                          <p:spTgt spid="50"/>
                                        </p:tgtEl>
                                        <p:attrNameLst>
                                          <p:attrName>ppt_x</p:attrName>
                                        </p:attrNameLst>
                                      </p:cBhvr>
                                      <p:tavLst>
                                        <p:tav tm="0">
                                          <p:val>
                                            <p:strVal val="#ppt_x"/>
                                          </p:val>
                                        </p:tav>
                                        <p:tav tm="100000">
                                          <p:val>
                                            <p:strVal val="#ppt_x"/>
                                          </p:val>
                                        </p:tav>
                                      </p:tavLst>
                                    </p:anim>
                                    <p:anim calcmode="lin" valueType="num">
                                      <p:cBhvr>
                                        <p:cTn id="18" dur="1000" fill="hold"/>
                                        <p:tgtEl>
                                          <p:spTgt spid="50"/>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1000"/>
                                        <p:tgtEl>
                                          <p:spTgt spid="35"/>
                                        </p:tgtEl>
                                      </p:cBhvr>
                                    </p:animEffect>
                                    <p:anim calcmode="lin" valueType="num">
                                      <p:cBhvr>
                                        <p:cTn id="24" dur="1000" fill="hold"/>
                                        <p:tgtEl>
                                          <p:spTgt spid="35"/>
                                        </p:tgtEl>
                                        <p:attrNameLst>
                                          <p:attrName>ppt_x</p:attrName>
                                        </p:attrNameLst>
                                      </p:cBhvr>
                                      <p:tavLst>
                                        <p:tav tm="0">
                                          <p:val>
                                            <p:strVal val="#ppt_x"/>
                                          </p:val>
                                        </p:tav>
                                        <p:tav tm="100000">
                                          <p:val>
                                            <p:strVal val="#ppt_x"/>
                                          </p:val>
                                        </p:tav>
                                      </p:tavLst>
                                    </p:anim>
                                    <p:anim calcmode="lin" valueType="num">
                                      <p:cBhvr>
                                        <p:cTn id="25" dur="1000" fill="hold"/>
                                        <p:tgtEl>
                                          <p:spTgt spid="35"/>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51"/>
                                        </p:tgtEl>
                                        <p:attrNameLst>
                                          <p:attrName>style.visibility</p:attrName>
                                        </p:attrNameLst>
                                      </p:cBhvr>
                                      <p:to>
                                        <p:strVal val="visible"/>
                                      </p:to>
                                    </p:set>
                                    <p:animEffect transition="in" filter="fade">
                                      <p:cBhvr>
                                        <p:cTn id="28" dur="1000"/>
                                        <p:tgtEl>
                                          <p:spTgt spid="51"/>
                                        </p:tgtEl>
                                      </p:cBhvr>
                                    </p:animEffect>
                                    <p:anim calcmode="lin" valueType="num">
                                      <p:cBhvr>
                                        <p:cTn id="29" dur="1000" fill="hold"/>
                                        <p:tgtEl>
                                          <p:spTgt spid="51"/>
                                        </p:tgtEl>
                                        <p:attrNameLst>
                                          <p:attrName>ppt_x</p:attrName>
                                        </p:attrNameLst>
                                      </p:cBhvr>
                                      <p:tavLst>
                                        <p:tav tm="0">
                                          <p:val>
                                            <p:strVal val="#ppt_x"/>
                                          </p:val>
                                        </p:tav>
                                        <p:tav tm="100000">
                                          <p:val>
                                            <p:strVal val="#ppt_x"/>
                                          </p:val>
                                        </p:tav>
                                      </p:tavLst>
                                    </p:anim>
                                    <p:anim calcmode="lin" valueType="num">
                                      <p:cBhvr>
                                        <p:cTn id="30" dur="1000" fill="hold"/>
                                        <p:tgtEl>
                                          <p:spTgt spid="5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1000"/>
                                        <p:tgtEl>
                                          <p:spTgt spid="41"/>
                                        </p:tgtEl>
                                      </p:cBhvr>
                                    </p:animEffect>
                                    <p:anim calcmode="lin" valueType="num">
                                      <p:cBhvr>
                                        <p:cTn id="36" dur="1000" fill="hold"/>
                                        <p:tgtEl>
                                          <p:spTgt spid="41"/>
                                        </p:tgtEl>
                                        <p:attrNameLst>
                                          <p:attrName>ppt_x</p:attrName>
                                        </p:attrNameLst>
                                      </p:cBhvr>
                                      <p:tavLst>
                                        <p:tav tm="0">
                                          <p:val>
                                            <p:strVal val="#ppt_x"/>
                                          </p:val>
                                        </p:tav>
                                        <p:tav tm="100000">
                                          <p:val>
                                            <p:strVal val="#ppt_x"/>
                                          </p:val>
                                        </p:tav>
                                      </p:tavLst>
                                    </p:anim>
                                    <p:anim calcmode="lin" valueType="num">
                                      <p:cBhvr>
                                        <p:cTn id="37" dur="1000" fill="hold"/>
                                        <p:tgtEl>
                                          <p:spTgt spid="41"/>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52"/>
                                        </p:tgtEl>
                                        <p:attrNameLst>
                                          <p:attrName>style.visibility</p:attrName>
                                        </p:attrNameLst>
                                      </p:cBhvr>
                                      <p:to>
                                        <p:strVal val="visible"/>
                                      </p:to>
                                    </p:set>
                                    <p:animEffect transition="in" filter="fade">
                                      <p:cBhvr>
                                        <p:cTn id="40" dur="1000"/>
                                        <p:tgtEl>
                                          <p:spTgt spid="52"/>
                                        </p:tgtEl>
                                      </p:cBhvr>
                                    </p:animEffect>
                                    <p:anim calcmode="lin" valueType="num">
                                      <p:cBhvr>
                                        <p:cTn id="41" dur="1000" fill="hold"/>
                                        <p:tgtEl>
                                          <p:spTgt spid="52"/>
                                        </p:tgtEl>
                                        <p:attrNameLst>
                                          <p:attrName>ppt_x</p:attrName>
                                        </p:attrNameLst>
                                      </p:cBhvr>
                                      <p:tavLst>
                                        <p:tav tm="0">
                                          <p:val>
                                            <p:strVal val="#ppt_x"/>
                                          </p:val>
                                        </p:tav>
                                        <p:tav tm="100000">
                                          <p:val>
                                            <p:strVal val="#ppt_x"/>
                                          </p:val>
                                        </p:tav>
                                      </p:tavLst>
                                    </p:anim>
                                    <p:anim calcmode="lin" valueType="num">
                                      <p:cBhvr>
                                        <p:cTn id="42"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5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726508" y="2031958"/>
            <a:ext cx="5225475" cy="400110"/>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2000" b="1" dirty="0">
                <a:latin typeface="+mj-lt"/>
                <a:ea typeface="League Spartan" charset="0"/>
                <a:cs typeface="Poppins SemiBold" pitchFamily="2" charset="77"/>
              </a:rPr>
              <a:t>El </a:t>
            </a:r>
            <a:r>
              <a:rPr lang="es-ES_tradnl" altLang="es-AR" sz="2000" b="1" dirty="0" err="1">
                <a:latin typeface="+mj-lt"/>
                <a:ea typeface="League Spartan" charset="0"/>
                <a:cs typeface="Poppins SemiBold" pitchFamily="2" charset="77"/>
              </a:rPr>
              <a:t>workflow</a:t>
            </a:r>
            <a:r>
              <a:rPr lang="es-ES_tradnl" altLang="es-AR" sz="2000" b="1" dirty="0">
                <a:latin typeface="+mj-lt"/>
                <a:ea typeface="League Spartan" charset="0"/>
                <a:cs typeface="Poppins SemiBold" pitchFamily="2" charset="77"/>
              </a:rPr>
              <a:t> propuesto</a:t>
            </a:r>
          </a:p>
        </p:txBody>
      </p:sp>
      <p:sp>
        <p:nvSpPr>
          <p:cNvPr id="8" name="TextBox 2"/>
          <p:cNvSpPr txBox="1"/>
          <p:nvPr/>
        </p:nvSpPr>
        <p:spPr>
          <a:xfrm>
            <a:off x="693667" y="2569925"/>
            <a:ext cx="7817763" cy="1077218"/>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1600" dirty="0">
                <a:latin typeface="+mj-lt"/>
                <a:ea typeface="League Spartan" charset="0"/>
                <a:cs typeface="Poppins SemiBold" pitchFamily="2" charset="77"/>
              </a:rPr>
              <a:t>Cada usuario, ejecuta el cálculo en sus partes correspondientes, una vez obtenidos, CATIA los guarda automáticamente en la base de datos.</a:t>
            </a:r>
          </a:p>
          <a:p>
            <a:pPr eaLnBrk="1" hangingPunct="1"/>
            <a:endParaRPr lang="es-ES_tradnl" altLang="es-AR" sz="1600" dirty="0">
              <a:latin typeface="+mj-lt"/>
              <a:ea typeface="League Spartan" charset="0"/>
              <a:cs typeface="Poppins SemiBold" pitchFamily="2" charset="77"/>
            </a:endParaRPr>
          </a:p>
          <a:p>
            <a:pPr eaLnBrk="1" hangingPunct="1"/>
            <a:endParaRPr lang="es-ES_tradnl" altLang="es-AR" sz="1600" dirty="0">
              <a:latin typeface="+mj-lt"/>
              <a:ea typeface="League Spartan" charset="0"/>
              <a:cs typeface="Poppins SemiBold" pitchFamily="2" charset="77"/>
            </a:endParaRPr>
          </a:p>
        </p:txBody>
      </p:sp>
      <p:grpSp>
        <p:nvGrpSpPr>
          <p:cNvPr id="12" name="11 Grupo"/>
          <p:cNvGrpSpPr/>
          <p:nvPr/>
        </p:nvGrpSpPr>
        <p:grpSpPr>
          <a:xfrm>
            <a:off x="3439455" y="5277949"/>
            <a:ext cx="1585780" cy="1044542"/>
            <a:chOff x="2511088" y="5468686"/>
            <a:chExt cx="1585780" cy="1044542"/>
          </a:xfrm>
        </p:grpSpPr>
        <p:sp>
          <p:nvSpPr>
            <p:cNvPr id="4" name="3 Rectángulo"/>
            <p:cNvSpPr/>
            <p:nvPr/>
          </p:nvSpPr>
          <p:spPr>
            <a:xfrm>
              <a:off x="2511088" y="5618518"/>
              <a:ext cx="1585780" cy="894710"/>
            </a:xfrm>
            <a:prstGeom prst="rect">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6" name="Picture 2"/>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100000" l="2679" r="100000"/>
                      </a14:imgEffect>
                    </a14:imgLayer>
                  </a14:imgProps>
                </a:ext>
                <a:ext uri="{28A0092B-C50C-407E-A947-70E740481C1C}">
                  <a14:useLocalDpi xmlns:a14="http://schemas.microsoft.com/office/drawing/2010/main" val="0"/>
                </a:ext>
              </a:extLst>
            </a:blip>
            <a:srcRect/>
            <a:stretch>
              <a:fillRect/>
            </a:stretch>
          </p:blipFill>
          <p:spPr bwMode="auto">
            <a:xfrm>
              <a:off x="2585600" y="5734362"/>
              <a:ext cx="626369" cy="620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1736" t="39198" r="41771" b="39135"/>
            <a:stretch/>
          </p:blipFill>
          <p:spPr bwMode="auto">
            <a:xfrm>
              <a:off x="3396761" y="5805264"/>
              <a:ext cx="648184" cy="478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5" cstate="print">
              <a:extLst>
                <a:ext uri="{BEBA8EAE-BF5A-486C-A8C5-ECC9F3942E4B}">
                  <a14:imgProps xmlns:a14="http://schemas.microsoft.com/office/drawing/2010/main">
                    <a14:imgLayer r:embed="rId6">
                      <a14:imgEffect>
                        <a14:backgroundRemoval t="10920" b="98276" l="439" r="100000"/>
                      </a14:imgEffect>
                    </a14:imgLayer>
                  </a14:imgProps>
                </a:ext>
                <a:ext uri="{28A0092B-C50C-407E-A947-70E740481C1C}">
                  <a14:useLocalDpi xmlns:a14="http://schemas.microsoft.com/office/drawing/2010/main" val="0"/>
                </a:ext>
              </a:extLst>
            </a:blip>
            <a:srcRect/>
            <a:stretch>
              <a:fillRect/>
            </a:stretch>
          </p:blipFill>
          <p:spPr bwMode="auto">
            <a:xfrm>
              <a:off x="2941457" y="5468686"/>
              <a:ext cx="696253" cy="53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028" name="Picture 4"/>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5042" b="89916" l="1746" r="100000">
                        <a14:foregroundMark x1="23691" y1="65546" x2="56608" y2="69748"/>
                        <a14:foregroundMark x1="58853" y1="68908" x2="92269" y2="58824"/>
                        <a14:foregroundMark x1="93267" y1="62185" x2="97257" y2="49580"/>
                        <a14:foregroundMark x1="95761" y1="24370" x2="97007" y2="52101"/>
                        <a14:foregroundMark x1="67581" y1="31092" x2="91272" y2="22689"/>
                        <a14:foregroundMark x1="24688" y1="26891" x2="66085" y2="31092"/>
                        <a14:foregroundMark x1="6484" y1="52941" x2="17955" y2="84874"/>
                        <a14:foregroundMark x1="18204" y1="83193" x2="25935" y2="70588"/>
                        <a14:foregroundMark x1="24688" y1="76471" x2="19202" y2="84034"/>
                        <a14:foregroundMark x1="3741" y1="46218" x2="15960" y2="82353"/>
                        <a14:foregroundMark x1="5486" y1="43697" x2="4988" y2="36134"/>
                        <a14:foregroundMark x1="4738" y1="41176" x2="2494" y2="36975"/>
                        <a14:foregroundMark x1="2494" y1="36134" x2="18454" y2="5042"/>
                        <a14:foregroundMark x1="19950" y1="7563" x2="23192" y2="5882"/>
                        <a14:foregroundMark x1="23691" y1="10924" x2="26683" y2="22689"/>
                      </a14:backgroundRemoval>
                    </a14:imgEffect>
                  </a14:imgLayer>
                </a14:imgProps>
              </a:ext>
              <a:ext uri="{28A0092B-C50C-407E-A947-70E740481C1C}">
                <a14:useLocalDpi xmlns:a14="http://schemas.microsoft.com/office/drawing/2010/main" val="0"/>
              </a:ext>
            </a:extLst>
          </a:blip>
          <a:srcRect/>
          <a:stretch>
            <a:fillRect/>
          </a:stretch>
        </p:blipFill>
        <p:spPr bwMode="auto">
          <a:xfrm rot="9924368">
            <a:off x="5029731" y="5486295"/>
            <a:ext cx="1194475" cy="354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 name="48 CuadroTexto"/>
          <p:cNvSpPr txBox="1"/>
          <p:nvPr/>
        </p:nvSpPr>
        <p:spPr>
          <a:xfrm>
            <a:off x="5115784" y="5941357"/>
            <a:ext cx="1045936" cy="600164"/>
          </a:xfrm>
          <a:prstGeom prst="rect">
            <a:avLst/>
          </a:prstGeom>
          <a:noFill/>
          <a:ln>
            <a:noFill/>
          </a:ln>
        </p:spPr>
        <p:txBody>
          <a:bodyPr wrap="square" rtlCol="0">
            <a:spAutoFit/>
          </a:bodyPr>
          <a:lstStyle/>
          <a:p>
            <a:pPr algn="ctr"/>
            <a:r>
              <a:rPr lang="es-MX" sz="1100" i="1" dirty="0">
                <a:solidFill>
                  <a:schemeClr val="bg1">
                    <a:lumMod val="50000"/>
                  </a:schemeClr>
                </a:solidFill>
              </a:rPr>
              <a:t>Respuesta/</a:t>
            </a:r>
            <a:br>
              <a:rPr lang="es-MX" sz="1100" i="1" dirty="0">
                <a:solidFill>
                  <a:schemeClr val="bg1">
                    <a:lumMod val="50000"/>
                  </a:schemeClr>
                </a:solidFill>
              </a:rPr>
            </a:br>
            <a:r>
              <a:rPr lang="es-MX" sz="1100" i="1" dirty="0">
                <a:solidFill>
                  <a:schemeClr val="bg1">
                    <a:lumMod val="50000"/>
                  </a:schemeClr>
                </a:solidFill>
              </a:rPr>
              <a:t>Carga de datos</a:t>
            </a:r>
            <a:endParaRPr lang="es-AR" sz="1100" i="1" dirty="0">
              <a:solidFill>
                <a:schemeClr val="bg1">
                  <a:lumMod val="50000"/>
                </a:schemeClr>
              </a:solidFill>
            </a:endParaRPr>
          </a:p>
        </p:txBody>
      </p:sp>
      <p:pic>
        <p:nvPicPr>
          <p:cNvPr id="2050" name="Picture 2"/>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0" b="97037" l="0" r="100000"/>
                    </a14:imgEffect>
                  </a14:imgLayer>
                </a14:imgProps>
              </a:ext>
              <a:ext uri="{28A0092B-C50C-407E-A947-70E740481C1C}">
                <a14:useLocalDpi xmlns:a14="http://schemas.microsoft.com/office/drawing/2010/main" val="0"/>
              </a:ext>
            </a:extLst>
          </a:blip>
          <a:srcRect/>
          <a:stretch>
            <a:fillRect/>
          </a:stretch>
        </p:blipFill>
        <p:spPr bwMode="auto">
          <a:xfrm>
            <a:off x="6161720" y="4874720"/>
            <a:ext cx="1181100" cy="1285875"/>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8" name="47 CuadroTexto"/>
          <p:cNvSpPr txBox="1"/>
          <p:nvPr/>
        </p:nvSpPr>
        <p:spPr>
          <a:xfrm>
            <a:off x="3702301" y="5236084"/>
            <a:ext cx="991260" cy="162439"/>
          </a:xfrm>
          <a:prstGeom prst="rect">
            <a:avLst/>
          </a:prstGeom>
          <a:noFill/>
          <a:ln>
            <a:noFill/>
          </a:ln>
        </p:spPr>
        <p:txBody>
          <a:bodyPr wrap="square" rtlCol="0">
            <a:spAutoFit/>
          </a:bodyPr>
          <a:lstStyle/>
          <a:p>
            <a:pPr algn="ctr"/>
            <a:r>
              <a:rPr lang="es-MX" sz="1100" i="1" dirty="0">
                <a:solidFill>
                  <a:schemeClr val="bg1">
                    <a:lumMod val="50000"/>
                  </a:schemeClr>
                </a:solidFill>
              </a:rPr>
              <a:t>Solicitud</a:t>
            </a:r>
            <a:endParaRPr lang="es-AR" sz="1100" i="1" dirty="0">
              <a:solidFill>
                <a:schemeClr val="bg1">
                  <a:lumMod val="50000"/>
                </a:schemeClr>
              </a:solidFill>
            </a:endParaRPr>
          </a:p>
        </p:txBody>
      </p:sp>
      <p:grpSp>
        <p:nvGrpSpPr>
          <p:cNvPr id="54" name="53 Grupo"/>
          <p:cNvGrpSpPr/>
          <p:nvPr/>
        </p:nvGrpSpPr>
        <p:grpSpPr>
          <a:xfrm>
            <a:off x="3515699" y="4097274"/>
            <a:ext cx="1585780" cy="1044542"/>
            <a:chOff x="2511088" y="5468686"/>
            <a:chExt cx="1585780" cy="1044542"/>
          </a:xfrm>
        </p:grpSpPr>
        <p:sp>
          <p:nvSpPr>
            <p:cNvPr id="55" name="54 Rectángulo"/>
            <p:cNvSpPr/>
            <p:nvPr/>
          </p:nvSpPr>
          <p:spPr>
            <a:xfrm>
              <a:off x="2511088" y="5618518"/>
              <a:ext cx="1585780" cy="894710"/>
            </a:xfrm>
            <a:prstGeom prst="rect">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56" name="Picture 2"/>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100000" l="2679" r="100000"/>
                      </a14:imgEffect>
                    </a14:imgLayer>
                  </a14:imgProps>
                </a:ext>
                <a:ext uri="{28A0092B-C50C-407E-A947-70E740481C1C}">
                  <a14:useLocalDpi xmlns:a14="http://schemas.microsoft.com/office/drawing/2010/main" val="0"/>
                </a:ext>
              </a:extLst>
            </a:blip>
            <a:srcRect/>
            <a:stretch>
              <a:fillRect/>
            </a:stretch>
          </p:blipFill>
          <p:spPr bwMode="auto">
            <a:xfrm>
              <a:off x="2585600" y="5734362"/>
              <a:ext cx="626369" cy="620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1736" t="39198" r="41771" b="39135"/>
            <a:stretch/>
          </p:blipFill>
          <p:spPr bwMode="auto">
            <a:xfrm>
              <a:off x="3396761" y="5805264"/>
              <a:ext cx="648184" cy="478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 name="Picture 3"/>
            <p:cNvPicPr>
              <a:picLocks noChangeAspect="1" noChangeArrowheads="1"/>
            </p:cNvPicPr>
            <p:nvPr/>
          </p:nvPicPr>
          <p:blipFill>
            <a:blip r:embed="rId5" cstate="print">
              <a:extLst>
                <a:ext uri="{BEBA8EAE-BF5A-486C-A8C5-ECC9F3942E4B}">
                  <a14:imgProps xmlns:a14="http://schemas.microsoft.com/office/drawing/2010/main">
                    <a14:imgLayer r:embed="rId6">
                      <a14:imgEffect>
                        <a14:backgroundRemoval t="10920" b="98276" l="439" r="100000"/>
                      </a14:imgEffect>
                    </a14:imgLayer>
                  </a14:imgProps>
                </a:ext>
                <a:ext uri="{28A0092B-C50C-407E-A947-70E740481C1C}">
                  <a14:useLocalDpi xmlns:a14="http://schemas.microsoft.com/office/drawing/2010/main" val="0"/>
                </a:ext>
              </a:extLst>
            </a:blip>
            <a:srcRect/>
            <a:stretch>
              <a:fillRect/>
            </a:stretch>
          </p:blipFill>
          <p:spPr bwMode="auto">
            <a:xfrm>
              <a:off x="2941457" y="5468686"/>
              <a:ext cx="696253" cy="53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59" name="58 CuadroTexto"/>
          <p:cNvSpPr txBox="1"/>
          <p:nvPr/>
        </p:nvSpPr>
        <p:spPr>
          <a:xfrm>
            <a:off x="3778545" y="4055409"/>
            <a:ext cx="991260" cy="162439"/>
          </a:xfrm>
          <a:prstGeom prst="rect">
            <a:avLst/>
          </a:prstGeom>
          <a:noFill/>
          <a:ln>
            <a:noFill/>
          </a:ln>
        </p:spPr>
        <p:txBody>
          <a:bodyPr wrap="square" rtlCol="0">
            <a:spAutoFit/>
          </a:bodyPr>
          <a:lstStyle/>
          <a:p>
            <a:pPr algn="ctr"/>
            <a:r>
              <a:rPr lang="es-MX" sz="1100" i="1" dirty="0">
                <a:solidFill>
                  <a:schemeClr val="bg1">
                    <a:lumMod val="50000"/>
                  </a:schemeClr>
                </a:solidFill>
              </a:rPr>
              <a:t>Solicitud</a:t>
            </a:r>
            <a:endParaRPr lang="es-AR" sz="1100" i="1" dirty="0">
              <a:solidFill>
                <a:schemeClr val="bg1">
                  <a:lumMod val="50000"/>
                </a:schemeClr>
              </a:solidFill>
            </a:endParaRPr>
          </a:p>
        </p:txBody>
      </p:sp>
      <p:grpSp>
        <p:nvGrpSpPr>
          <p:cNvPr id="60" name="59 Grupo"/>
          <p:cNvGrpSpPr/>
          <p:nvPr/>
        </p:nvGrpSpPr>
        <p:grpSpPr>
          <a:xfrm>
            <a:off x="5410521" y="3222833"/>
            <a:ext cx="1585780" cy="1044542"/>
            <a:chOff x="2511088" y="5468686"/>
            <a:chExt cx="1585780" cy="1044542"/>
          </a:xfrm>
        </p:grpSpPr>
        <p:sp>
          <p:nvSpPr>
            <p:cNvPr id="61" name="60 Rectángulo"/>
            <p:cNvSpPr/>
            <p:nvPr/>
          </p:nvSpPr>
          <p:spPr>
            <a:xfrm>
              <a:off x="2511088" y="5618518"/>
              <a:ext cx="1585780" cy="894710"/>
            </a:xfrm>
            <a:prstGeom prst="rect">
              <a:avLst/>
            </a:prstGeom>
            <a:solidFill>
              <a:schemeClr val="bg1">
                <a:lumMod val="8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62" name="Picture 2"/>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100000" l="2679" r="100000"/>
                      </a14:imgEffect>
                    </a14:imgLayer>
                  </a14:imgProps>
                </a:ext>
                <a:ext uri="{28A0092B-C50C-407E-A947-70E740481C1C}">
                  <a14:useLocalDpi xmlns:a14="http://schemas.microsoft.com/office/drawing/2010/main" val="0"/>
                </a:ext>
              </a:extLst>
            </a:blip>
            <a:srcRect/>
            <a:stretch>
              <a:fillRect/>
            </a:stretch>
          </p:blipFill>
          <p:spPr bwMode="auto">
            <a:xfrm>
              <a:off x="2585600" y="5734362"/>
              <a:ext cx="626369" cy="620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 name="Picture 2"/>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41736" t="39198" r="41771" b="39135"/>
            <a:stretch/>
          </p:blipFill>
          <p:spPr bwMode="auto">
            <a:xfrm>
              <a:off x="3396761" y="5805264"/>
              <a:ext cx="648184" cy="478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 name="Picture 3"/>
            <p:cNvPicPr>
              <a:picLocks noChangeAspect="1" noChangeArrowheads="1"/>
            </p:cNvPicPr>
            <p:nvPr/>
          </p:nvPicPr>
          <p:blipFill>
            <a:blip r:embed="rId5" cstate="print">
              <a:extLst>
                <a:ext uri="{BEBA8EAE-BF5A-486C-A8C5-ECC9F3942E4B}">
                  <a14:imgProps xmlns:a14="http://schemas.microsoft.com/office/drawing/2010/main">
                    <a14:imgLayer r:embed="rId6">
                      <a14:imgEffect>
                        <a14:backgroundRemoval t="10920" b="98276" l="439" r="100000"/>
                      </a14:imgEffect>
                    </a14:imgLayer>
                  </a14:imgProps>
                </a:ext>
                <a:ext uri="{28A0092B-C50C-407E-A947-70E740481C1C}">
                  <a14:useLocalDpi xmlns:a14="http://schemas.microsoft.com/office/drawing/2010/main" val="0"/>
                </a:ext>
              </a:extLst>
            </a:blip>
            <a:srcRect/>
            <a:stretch>
              <a:fillRect/>
            </a:stretch>
          </p:blipFill>
          <p:spPr bwMode="auto">
            <a:xfrm>
              <a:off x="2941457" y="5468686"/>
              <a:ext cx="696253" cy="531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65" name="64 CuadroTexto"/>
          <p:cNvSpPr txBox="1"/>
          <p:nvPr/>
        </p:nvSpPr>
        <p:spPr>
          <a:xfrm>
            <a:off x="5585030" y="3253363"/>
            <a:ext cx="991260" cy="162439"/>
          </a:xfrm>
          <a:prstGeom prst="rect">
            <a:avLst/>
          </a:prstGeom>
          <a:noFill/>
          <a:ln>
            <a:noFill/>
          </a:ln>
        </p:spPr>
        <p:txBody>
          <a:bodyPr wrap="square" rtlCol="0">
            <a:spAutoFit/>
          </a:bodyPr>
          <a:lstStyle/>
          <a:p>
            <a:pPr algn="ctr"/>
            <a:r>
              <a:rPr lang="es-MX" sz="1100" i="1" dirty="0">
                <a:solidFill>
                  <a:schemeClr val="bg1">
                    <a:lumMod val="50000"/>
                  </a:schemeClr>
                </a:solidFill>
              </a:rPr>
              <a:t>Solicitud</a:t>
            </a:r>
            <a:endParaRPr lang="es-AR" sz="1100" i="1" dirty="0">
              <a:solidFill>
                <a:schemeClr val="bg1">
                  <a:lumMod val="50000"/>
                </a:schemeClr>
              </a:solidFill>
            </a:endParaRPr>
          </a:p>
        </p:txBody>
      </p:sp>
      <p:pic>
        <p:nvPicPr>
          <p:cNvPr id="72" name="Picture 4"/>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5042" b="89916" l="1746" r="100000">
                        <a14:foregroundMark x1="23691" y1="65546" x2="56608" y2="69748"/>
                        <a14:foregroundMark x1="58853" y1="68908" x2="92269" y2="58824"/>
                        <a14:foregroundMark x1="93267" y1="62185" x2="97257" y2="49580"/>
                        <a14:foregroundMark x1="95761" y1="24370" x2="97007" y2="52101"/>
                        <a14:foregroundMark x1="67581" y1="31092" x2="91272" y2="22689"/>
                        <a14:foregroundMark x1="24688" y1="26891" x2="66085" y2="31092"/>
                        <a14:foregroundMark x1="6484" y1="52941" x2="17955" y2="84874"/>
                        <a14:foregroundMark x1="18204" y1="83193" x2="25935" y2="70588"/>
                        <a14:foregroundMark x1="24688" y1="76471" x2="19202" y2="84034"/>
                        <a14:foregroundMark x1="3741" y1="46218" x2="15960" y2="82353"/>
                        <a14:foregroundMark x1="5486" y1="43697" x2="4988" y2="36134"/>
                        <a14:foregroundMark x1="4738" y1="41176" x2="2494" y2="36975"/>
                        <a14:foregroundMark x1="2494" y1="36134" x2="18454" y2="5042"/>
                        <a14:foregroundMark x1="19950" y1="7563" x2="23192" y2="5882"/>
                        <a14:foregroundMark x1="23691" y1="10924" x2="26683" y2="22689"/>
                      </a14:backgroundRemoval>
                    </a14:imgEffect>
                  </a14:imgLayer>
                </a14:imgProps>
              </a:ext>
              <a:ext uri="{28A0092B-C50C-407E-A947-70E740481C1C}">
                <a14:useLocalDpi xmlns:a14="http://schemas.microsoft.com/office/drawing/2010/main" val="0"/>
              </a:ext>
            </a:extLst>
          </a:blip>
          <a:srcRect/>
          <a:stretch>
            <a:fillRect/>
          </a:stretch>
        </p:blipFill>
        <p:spPr bwMode="auto">
          <a:xfrm rot="12418793">
            <a:off x="5155315" y="4735590"/>
            <a:ext cx="1194475" cy="354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3" name="Picture 4"/>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5042" b="89916" l="1746" r="100000">
                        <a14:foregroundMark x1="23691" y1="65546" x2="56608" y2="69748"/>
                        <a14:foregroundMark x1="58853" y1="68908" x2="92269" y2="58824"/>
                        <a14:foregroundMark x1="93267" y1="62185" x2="97257" y2="49580"/>
                        <a14:foregroundMark x1="95761" y1="24370" x2="97007" y2="52101"/>
                        <a14:foregroundMark x1="67581" y1="31092" x2="91272" y2="22689"/>
                        <a14:foregroundMark x1="24688" y1="26891" x2="66085" y2="31092"/>
                        <a14:foregroundMark x1="6484" y1="52941" x2="17955" y2="84874"/>
                        <a14:foregroundMark x1="18204" y1="83193" x2="25935" y2="70588"/>
                        <a14:foregroundMark x1="24688" y1="76471" x2="19202" y2="84034"/>
                        <a14:foregroundMark x1="3741" y1="46218" x2="15960" y2="82353"/>
                        <a14:foregroundMark x1="5486" y1="43697" x2="4988" y2="36134"/>
                        <a14:foregroundMark x1="4738" y1="41176" x2="2494" y2="36975"/>
                        <a14:foregroundMark x1="2494" y1="36134" x2="18454" y2="5042"/>
                        <a14:foregroundMark x1="19950" y1="7563" x2="23192" y2="5882"/>
                        <a14:foregroundMark x1="23691" y1="10924" x2="26683" y2="22689"/>
                      </a14:backgroundRemoval>
                    </a14:imgEffect>
                  </a14:imgLayer>
                </a14:imgProps>
              </a:ext>
              <a:ext uri="{28A0092B-C50C-407E-A947-70E740481C1C}">
                <a14:useLocalDpi xmlns:a14="http://schemas.microsoft.com/office/drawing/2010/main" val="0"/>
              </a:ext>
            </a:extLst>
          </a:blip>
          <a:srcRect/>
          <a:stretch>
            <a:fillRect/>
          </a:stretch>
        </p:blipFill>
        <p:spPr bwMode="auto">
          <a:xfrm rot="13554744">
            <a:off x="5565203" y="4354885"/>
            <a:ext cx="1194475" cy="354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8" name="77 CuadroTexto"/>
          <p:cNvSpPr txBox="1"/>
          <p:nvPr/>
        </p:nvSpPr>
        <p:spPr>
          <a:xfrm>
            <a:off x="9120336" y="4785202"/>
            <a:ext cx="2233200" cy="1200329"/>
          </a:xfrm>
          <a:prstGeom prst="rect">
            <a:avLst/>
          </a:prstGeom>
          <a:solidFill>
            <a:srgbClr val="00B050"/>
          </a:solidFill>
          <a:ln>
            <a:solidFill>
              <a:schemeClr val="bg1">
                <a:lumMod val="65000"/>
              </a:schemeClr>
            </a:solidFill>
          </a:ln>
          <a:effectLst>
            <a:outerShdw blurRad="50800" dist="38100" dir="2700000" algn="tl" rotWithShape="0">
              <a:prstClr val="black">
                <a:alpha val="40000"/>
              </a:prstClr>
            </a:outerShdw>
          </a:effectLst>
        </p:spPr>
        <p:txBody>
          <a:bodyPr wrap="square" rtlCol="0">
            <a:spAutoFit/>
          </a:bodyPr>
          <a:lstStyle/>
          <a:p>
            <a:r>
              <a:rPr lang="es-ES" sz="1200" b="1" dirty="0">
                <a:solidFill>
                  <a:schemeClr val="bg1">
                    <a:lumMod val="95000"/>
                  </a:schemeClr>
                </a:solidFill>
              </a:rPr>
              <a:t>Los datos son visualizados  mediante un portal web.</a:t>
            </a:r>
          </a:p>
          <a:p>
            <a:r>
              <a:rPr lang="es-ES" sz="1200" b="1" dirty="0">
                <a:solidFill>
                  <a:schemeClr val="bg1">
                    <a:lumMod val="95000"/>
                  </a:schemeClr>
                </a:solidFill>
              </a:rPr>
              <a:t>Se muestran de forma individual o el cálculo final. En este ejemplo el CG del producto</a:t>
            </a:r>
            <a:endParaRPr lang="es-AR" sz="1200" dirty="0">
              <a:solidFill>
                <a:schemeClr val="bg1">
                  <a:lumMod val="95000"/>
                </a:schemeClr>
              </a:solidFill>
            </a:endParaRPr>
          </a:p>
        </p:txBody>
      </p:sp>
      <p:pic>
        <p:nvPicPr>
          <p:cNvPr id="79" name="Picture 9"/>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303883" y="5149177"/>
            <a:ext cx="1694666" cy="7369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0" name="79 CuadroTexto"/>
          <p:cNvSpPr txBox="1"/>
          <p:nvPr/>
        </p:nvSpPr>
        <p:spPr>
          <a:xfrm>
            <a:off x="7598147" y="5985531"/>
            <a:ext cx="1106137" cy="430887"/>
          </a:xfrm>
          <a:prstGeom prst="rect">
            <a:avLst/>
          </a:prstGeom>
          <a:noFill/>
          <a:ln>
            <a:noFill/>
          </a:ln>
        </p:spPr>
        <p:txBody>
          <a:bodyPr wrap="square" rtlCol="0">
            <a:spAutoFit/>
          </a:bodyPr>
          <a:lstStyle/>
          <a:p>
            <a:pPr algn="ctr"/>
            <a:r>
              <a:rPr lang="es-MX" sz="1100" i="1" dirty="0">
                <a:solidFill>
                  <a:schemeClr val="bg1">
                    <a:lumMod val="50000"/>
                  </a:schemeClr>
                </a:solidFill>
              </a:rPr>
              <a:t>Datos en el Portal web</a:t>
            </a:r>
            <a:endParaRPr lang="es-AR" sz="1100" i="1" dirty="0">
              <a:solidFill>
                <a:schemeClr val="bg1">
                  <a:lumMod val="50000"/>
                </a:schemeClr>
              </a:solidFill>
            </a:endParaRPr>
          </a:p>
        </p:txBody>
      </p:sp>
      <p:sp>
        <p:nvSpPr>
          <p:cNvPr id="30"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MX" sz="2800" b="1" dirty="0">
                <a:solidFill>
                  <a:schemeClr val="bg1"/>
                </a:solidFill>
                <a:ea typeface="Open Sans Semibold" panose="020B0706030804020204" pitchFamily="34" charset="0"/>
                <a:cs typeface="Open Sans Semibold" panose="020B0706030804020204" pitchFamily="34" charset="0"/>
              </a:rPr>
              <a:t>Centralizando la información </a:t>
            </a:r>
            <a:r>
              <a:rPr lang="es-MX" sz="2800" b="1" dirty="0">
                <a:solidFill>
                  <a:schemeClr val="bg1"/>
                </a:solidFill>
                <a:ea typeface="Open Sans Semibold" panose="020B0706030804020204" pitchFamily="34" charset="0"/>
                <a:cs typeface="Open Sans Semibold" panose="020B0706030804020204" pitchFamily="34" charset="0"/>
                <a:sym typeface="Wingdings" panose="05000000000000000000" pitchFamily="2" charset="2"/>
              </a:rPr>
              <a:t> DB</a:t>
            </a:r>
            <a:endParaRPr lang="es-AR" sz="2800" b="1" dirty="0">
              <a:solidFill>
                <a:schemeClr val="bg1"/>
              </a:solidFill>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718870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500"/>
                                        <p:tgtEl>
                                          <p:spTgt spid="4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animEffect transition="in" filter="fade">
                                      <p:cBhvr>
                                        <p:cTn id="15" dur="500"/>
                                        <p:tgtEl>
                                          <p:spTgt spid="1028"/>
                                        </p:tgtEl>
                                      </p:cBhvr>
                                    </p:animEffect>
                                  </p:childTnLst>
                                </p:cTn>
                              </p:par>
                              <p:par>
                                <p:cTn id="16" presetID="10" presetClass="entr" presetSubtype="0" fill="hold" nodeType="withEffect">
                                  <p:stCondLst>
                                    <p:cond delay="0"/>
                                  </p:stCondLst>
                                  <p:childTnLst>
                                    <p:set>
                                      <p:cBhvr>
                                        <p:cTn id="17" dur="1" fill="hold">
                                          <p:stCondLst>
                                            <p:cond delay="0"/>
                                          </p:stCondLst>
                                        </p:cTn>
                                        <p:tgtEl>
                                          <p:spTgt spid="54"/>
                                        </p:tgtEl>
                                        <p:attrNameLst>
                                          <p:attrName>style.visibility</p:attrName>
                                        </p:attrNameLst>
                                      </p:cBhvr>
                                      <p:to>
                                        <p:strVal val="visible"/>
                                      </p:to>
                                    </p:set>
                                    <p:animEffect transition="in" filter="fade">
                                      <p:cBhvr>
                                        <p:cTn id="18" dur="500"/>
                                        <p:tgtEl>
                                          <p:spTgt spid="5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9"/>
                                        </p:tgtEl>
                                        <p:attrNameLst>
                                          <p:attrName>style.visibility</p:attrName>
                                        </p:attrNameLst>
                                      </p:cBhvr>
                                      <p:to>
                                        <p:strVal val="visible"/>
                                      </p:to>
                                    </p:set>
                                    <p:animEffect transition="in" filter="fade">
                                      <p:cBhvr>
                                        <p:cTn id="21" dur="500"/>
                                        <p:tgtEl>
                                          <p:spTgt spid="59"/>
                                        </p:tgtEl>
                                      </p:cBhvr>
                                    </p:animEffect>
                                  </p:childTnLst>
                                </p:cTn>
                              </p:par>
                              <p:par>
                                <p:cTn id="22" presetID="10" presetClass="entr" presetSubtype="0" fill="hold" nodeType="withEffect">
                                  <p:stCondLst>
                                    <p:cond delay="0"/>
                                  </p:stCondLst>
                                  <p:childTnLst>
                                    <p:set>
                                      <p:cBhvr>
                                        <p:cTn id="23" dur="1" fill="hold">
                                          <p:stCondLst>
                                            <p:cond delay="0"/>
                                          </p:stCondLst>
                                        </p:cTn>
                                        <p:tgtEl>
                                          <p:spTgt spid="73"/>
                                        </p:tgtEl>
                                        <p:attrNameLst>
                                          <p:attrName>style.visibility</p:attrName>
                                        </p:attrNameLst>
                                      </p:cBhvr>
                                      <p:to>
                                        <p:strVal val="visible"/>
                                      </p:to>
                                    </p:set>
                                    <p:animEffect transition="in" filter="fade">
                                      <p:cBhvr>
                                        <p:cTn id="24" dur="500"/>
                                        <p:tgtEl>
                                          <p:spTgt spid="73"/>
                                        </p:tgtEl>
                                      </p:cBhvr>
                                    </p:animEffect>
                                  </p:childTnLst>
                                </p:cTn>
                              </p:par>
                              <p:par>
                                <p:cTn id="25" presetID="10" presetClass="entr" presetSubtype="0" fill="hold" nodeType="withEffect">
                                  <p:stCondLst>
                                    <p:cond delay="0"/>
                                  </p:stCondLst>
                                  <p:childTnLst>
                                    <p:set>
                                      <p:cBhvr>
                                        <p:cTn id="26" dur="1" fill="hold">
                                          <p:stCondLst>
                                            <p:cond delay="0"/>
                                          </p:stCondLst>
                                        </p:cTn>
                                        <p:tgtEl>
                                          <p:spTgt spid="72"/>
                                        </p:tgtEl>
                                        <p:attrNameLst>
                                          <p:attrName>style.visibility</p:attrName>
                                        </p:attrNameLst>
                                      </p:cBhvr>
                                      <p:to>
                                        <p:strVal val="visible"/>
                                      </p:to>
                                    </p:set>
                                    <p:animEffect transition="in" filter="fade">
                                      <p:cBhvr>
                                        <p:cTn id="27" dur="500"/>
                                        <p:tgtEl>
                                          <p:spTgt spid="7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fade">
                                      <p:cBhvr>
                                        <p:cTn id="30" dur="500"/>
                                        <p:tgtEl>
                                          <p:spTgt spid="65"/>
                                        </p:tgtEl>
                                      </p:cBhvr>
                                    </p:animEffect>
                                  </p:childTnLst>
                                </p:cTn>
                              </p:par>
                              <p:par>
                                <p:cTn id="31" presetID="10" presetClass="entr" presetSubtype="0" fill="hold" nodeType="withEffect">
                                  <p:stCondLst>
                                    <p:cond delay="0"/>
                                  </p:stCondLst>
                                  <p:childTnLst>
                                    <p:set>
                                      <p:cBhvr>
                                        <p:cTn id="32" dur="1" fill="hold">
                                          <p:stCondLst>
                                            <p:cond delay="0"/>
                                          </p:stCondLst>
                                        </p:cTn>
                                        <p:tgtEl>
                                          <p:spTgt spid="60"/>
                                        </p:tgtEl>
                                        <p:attrNameLst>
                                          <p:attrName>style.visibility</p:attrName>
                                        </p:attrNameLst>
                                      </p:cBhvr>
                                      <p:to>
                                        <p:strVal val="visible"/>
                                      </p:to>
                                    </p:set>
                                    <p:animEffect transition="in" filter="fade">
                                      <p:cBhvr>
                                        <p:cTn id="33" dur="500"/>
                                        <p:tgtEl>
                                          <p:spTgt spid="60"/>
                                        </p:tgtEl>
                                      </p:cBhvr>
                                    </p:animEffect>
                                  </p:childTnLst>
                                </p:cTn>
                              </p:par>
                            </p:childTnLst>
                          </p:cTn>
                        </p:par>
                      </p:childTnLst>
                    </p:cTn>
                  </p:par>
                  <p:par>
                    <p:cTn id="34" fill="hold">
                      <p:stCondLst>
                        <p:cond delay="indefinite"/>
                      </p:stCondLst>
                      <p:childTnLst>
                        <p:par>
                          <p:cTn id="35" fill="hold">
                            <p:stCondLst>
                              <p:cond delay="0"/>
                            </p:stCondLst>
                            <p:childTnLst>
                              <p:par>
                                <p:cTn id="36" presetID="26" presetClass="emph" presetSubtype="0" fill="hold" nodeType="clickEffect">
                                  <p:stCondLst>
                                    <p:cond delay="0"/>
                                  </p:stCondLst>
                                  <p:childTnLst>
                                    <p:animEffect transition="out" filter="fade">
                                      <p:cBhvr>
                                        <p:cTn id="37" dur="500" tmFilter="0, 0; .2, .5; .8, .5; 1, 0"/>
                                        <p:tgtEl>
                                          <p:spTgt spid="2050"/>
                                        </p:tgtEl>
                                      </p:cBhvr>
                                    </p:animEffect>
                                    <p:animScale>
                                      <p:cBhvr>
                                        <p:cTn id="38" dur="250" autoRev="1" fill="hold"/>
                                        <p:tgtEl>
                                          <p:spTgt spid="205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59" grpId="0"/>
      <p:bldP spid="6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80858" y="3429000"/>
            <a:ext cx="3307499" cy="32828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8" name="TextBox 2"/>
          <p:cNvSpPr txBox="1"/>
          <p:nvPr/>
        </p:nvSpPr>
        <p:spPr>
          <a:xfrm>
            <a:off x="726508" y="2031958"/>
            <a:ext cx="5225475" cy="400110"/>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2000" b="1" dirty="0">
                <a:latin typeface="+mj-lt"/>
                <a:ea typeface="League Spartan" charset="0"/>
                <a:cs typeface="Poppins SemiBold" pitchFamily="2" charset="77"/>
              </a:rPr>
              <a:t>Pensando en una solución escalable</a:t>
            </a:r>
          </a:p>
        </p:txBody>
      </p:sp>
      <p:sp>
        <p:nvSpPr>
          <p:cNvPr id="19" name="TextBox 2"/>
          <p:cNvSpPr txBox="1"/>
          <p:nvPr/>
        </p:nvSpPr>
        <p:spPr>
          <a:xfrm>
            <a:off x="576833" y="2450456"/>
            <a:ext cx="7817763" cy="1323439"/>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1600" dirty="0">
                <a:latin typeface="+mj-lt"/>
                <a:ea typeface="League Spartan" charset="0"/>
                <a:cs typeface="Poppins SemiBold" pitchFamily="2" charset="77"/>
              </a:rPr>
              <a:t>En base a la metodología propuesta, se comienza a desarrollar una aplicación que consta de un portal web con conexión a base de datos SQL y CATIA V5 (también con conexión a base de datos). Similar en concepto a lo que hace hoy ENOVIA V5</a:t>
            </a:r>
          </a:p>
          <a:p>
            <a:pPr eaLnBrk="1" hangingPunct="1"/>
            <a:endParaRPr lang="es-ES_tradnl" altLang="es-AR" sz="1600" dirty="0">
              <a:latin typeface="+mj-lt"/>
              <a:ea typeface="League Spartan" charset="0"/>
              <a:cs typeface="Poppins SemiBold" pitchFamily="2" charset="77"/>
            </a:endParaRPr>
          </a:p>
          <a:p>
            <a:pPr eaLnBrk="1" hangingPunct="1"/>
            <a:endParaRPr lang="es-ES_tradnl" altLang="es-AR" sz="1600" dirty="0">
              <a:latin typeface="+mj-lt"/>
              <a:ea typeface="League Spartan" charset="0"/>
              <a:cs typeface="Poppins SemiBold" pitchFamily="2" charset="77"/>
            </a:endParaRPr>
          </a:p>
        </p:txBody>
      </p:sp>
      <p:pic>
        <p:nvPicPr>
          <p:cNvPr id="2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1736" t="39198" r="41771" b="39135"/>
          <a:stretch/>
        </p:blipFill>
        <p:spPr bwMode="auto">
          <a:xfrm>
            <a:off x="8596136" y="3429000"/>
            <a:ext cx="1296144" cy="957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2"/>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0" b="97037" l="0" r="100000"/>
                    </a14:imgEffect>
                  </a14:imgLayer>
                </a14:imgProps>
              </a:ext>
              <a:ext uri="{28A0092B-C50C-407E-A947-70E740481C1C}">
                <a14:useLocalDpi xmlns:a14="http://schemas.microsoft.com/office/drawing/2010/main" val="0"/>
              </a:ext>
            </a:extLst>
          </a:blip>
          <a:srcRect/>
          <a:stretch>
            <a:fillRect/>
          </a:stretch>
        </p:blipFill>
        <p:spPr bwMode="auto">
          <a:xfrm>
            <a:off x="8596136" y="5003450"/>
            <a:ext cx="1509095" cy="1642966"/>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4"/>
          <p:cNvPicPr>
            <a:picLocks noChangeAspect="1" noChangeArrowheads="1"/>
          </p:cNvPicPr>
          <p:nvPr/>
        </p:nvPicPr>
        <p:blipFill>
          <a:blip r:embed="rId6" cstate="print">
            <a:extLst>
              <a:ext uri="{BEBA8EAE-BF5A-486C-A8C5-ECC9F3942E4B}">
                <a14:imgProps xmlns:a14="http://schemas.microsoft.com/office/drawing/2010/main">
                  <a14:imgLayer r:embed="rId7">
                    <a14:imgEffect>
                      <a14:backgroundRemoval t="5042" b="89916" l="1746" r="100000">
                        <a14:foregroundMark x1="23691" y1="65546" x2="56608" y2="69748"/>
                        <a14:foregroundMark x1="58853" y1="68908" x2="92269" y2="58824"/>
                        <a14:foregroundMark x1="93267" y1="62185" x2="97257" y2="49580"/>
                        <a14:foregroundMark x1="95761" y1="24370" x2="97007" y2="52101"/>
                        <a14:foregroundMark x1="67581" y1="31092" x2="91272" y2="22689"/>
                        <a14:foregroundMark x1="24688" y1="26891" x2="66085" y2="31092"/>
                        <a14:foregroundMark x1="6484" y1="52941" x2="17955" y2="84874"/>
                        <a14:foregroundMark x1="18204" y1="83193" x2="25935" y2="70588"/>
                        <a14:foregroundMark x1="24688" y1="76471" x2="19202" y2="84034"/>
                        <a14:foregroundMark x1="3741" y1="46218" x2="15960" y2="82353"/>
                        <a14:foregroundMark x1="5486" y1="43697" x2="4988" y2="36134"/>
                        <a14:foregroundMark x1="4738" y1="41176" x2="2494" y2="36975"/>
                        <a14:foregroundMark x1="2494" y1="36134" x2="18454" y2="5042"/>
                        <a14:foregroundMark x1="19950" y1="7563" x2="23192" y2="5882"/>
                        <a14:foregroundMark x1="23691" y1="10924" x2="26683" y2="22689"/>
                      </a14:backgroundRemoval>
                    </a14:imgEffect>
                  </a14:imgLayer>
                </a14:imgProps>
              </a:ext>
              <a:ext uri="{28A0092B-C50C-407E-A947-70E740481C1C}">
                <a14:useLocalDpi xmlns:a14="http://schemas.microsoft.com/office/drawing/2010/main" val="0"/>
              </a:ext>
            </a:extLst>
          </a:blip>
          <a:srcRect/>
          <a:stretch>
            <a:fillRect/>
          </a:stretch>
        </p:blipFill>
        <p:spPr bwMode="auto">
          <a:xfrm rot="10021747">
            <a:off x="7348188" y="4037422"/>
            <a:ext cx="1194475" cy="354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4"/>
          <p:cNvPicPr>
            <a:picLocks noChangeAspect="1" noChangeArrowheads="1"/>
          </p:cNvPicPr>
          <p:nvPr/>
        </p:nvPicPr>
        <p:blipFill>
          <a:blip r:embed="rId6" cstate="print">
            <a:extLst>
              <a:ext uri="{BEBA8EAE-BF5A-486C-A8C5-ECC9F3942E4B}">
                <a14:imgProps xmlns:a14="http://schemas.microsoft.com/office/drawing/2010/main">
                  <a14:imgLayer r:embed="rId7">
                    <a14:imgEffect>
                      <a14:backgroundRemoval t="5042" b="89916" l="1746" r="100000">
                        <a14:foregroundMark x1="23691" y1="65546" x2="56608" y2="69748"/>
                        <a14:foregroundMark x1="58853" y1="68908" x2="92269" y2="58824"/>
                        <a14:foregroundMark x1="93267" y1="62185" x2="97257" y2="49580"/>
                        <a14:foregroundMark x1="95761" y1="24370" x2="97007" y2="52101"/>
                        <a14:foregroundMark x1="67581" y1="31092" x2="91272" y2="22689"/>
                        <a14:foregroundMark x1="24688" y1="26891" x2="66085" y2="31092"/>
                        <a14:foregroundMark x1="6484" y1="52941" x2="17955" y2="84874"/>
                        <a14:foregroundMark x1="18204" y1="83193" x2="25935" y2="70588"/>
                        <a14:foregroundMark x1="24688" y1="76471" x2="19202" y2="84034"/>
                        <a14:foregroundMark x1="3741" y1="46218" x2="15960" y2="82353"/>
                        <a14:foregroundMark x1="5486" y1="43697" x2="4988" y2="36134"/>
                        <a14:foregroundMark x1="4738" y1="41176" x2="2494" y2="36975"/>
                        <a14:foregroundMark x1="2494" y1="36134" x2="18454" y2="5042"/>
                        <a14:foregroundMark x1="19950" y1="7563" x2="23192" y2="5882"/>
                        <a14:foregroundMark x1="23691" y1="10924" x2="26683" y2="22689"/>
                      </a14:backgroundRemoval>
                    </a14:imgEffect>
                  </a14:imgLayer>
                </a14:imgProps>
              </a:ext>
              <a:ext uri="{28A0092B-C50C-407E-A947-70E740481C1C}">
                <a14:useLocalDpi xmlns:a14="http://schemas.microsoft.com/office/drawing/2010/main" val="0"/>
              </a:ext>
            </a:extLst>
          </a:blip>
          <a:srcRect/>
          <a:stretch>
            <a:fillRect/>
          </a:stretch>
        </p:blipFill>
        <p:spPr bwMode="auto">
          <a:xfrm rot="11393948">
            <a:off x="7485730" y="5305738"/>
            <a:ext cx="1194475" cy="354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4"/>
          <p:cNvPicPr>
            <a:picLocks noChangeAspect="1" noChangeArrowheads="1"/>
          </p:cNvPicPr>
          <p:nvPr/>
        </p:nvPicPr>
        <p:blipFill>
          <a:blip r:embed="rId6" cstate="print">
            <a:extLst>
              <a:ext uri="{BEBA8EAE-BF5A-486C-A8C5-ECC9F3942E4B}">
                <a14:imgProps xmlns:a14="http://schemas.microsoft.com/office/drawing/2010/main">
                  <a14:imgLayer r:embed="rId7">
                    <a14:imgEffect>
                      <a14:backgroundRemoval t="5042" b="89916" l="1746" r="100000">
                        <a14:foregroundMark x1="23691" y1="65546" x2="56608" y2="69748"/>
                        <a14:foregroundMark x1="58853" y1="68908" x2="92269" y2="58824"/>
                        <a14:foregroundMark x1="93267" y1="62185" x2="97257" y2="49580"/>
                        <a14:foregroundMark x1="95761" y1="24370" x2="97007" y2="52101"/>
                        <a14:foregroundMark x1="67581" y1="31092" x2="91272" y2="22689"/>
                        <a14:foregroundMark x1="24688" y1="26891" x2="66085" y2="31092"/>
                        <a14:foregroundMark x1="6484" y1="52941" x2="17955" y2="84874"/>
                        <a14:foregroundMark x1="18204" y1="83193" x2="25935" y2="70588"/>
                        <a14:foregroundMark x1="24688" y1="76471" x2="19202" y2="84034"/>
                        <a14:foregroundMark x1="3741" y1="46218" x2="15960" y2="82353"/>
                        <a14:foregroundMark x1="5486" y1="43697" x2="4988" y2="36134"/>
                        <a14:foregroundMark x1="4738" y1="41176" x2="2494" y2="36975"/>
                        <a14:foregroundMark x1="2494" y1="36134" x2="18454" y2="5042"/>
                        <a14:foregroundMark x1="19950" y1="7563" x2="23192" y2="5882"/>
                        <a14:foregroundMark x1="23691" y1="10924" x2="26683" y2="22689"/>
                      </a14:backgroundRemoval>
                    </a14:imgEffect>
                  </a14:imgLayer>
                </a14:imgProps>
              </a:ext>
              <a:ext uri="{28A0092B-C50C-407E-A947-70E740481C1C}">
                <a14:useLocalDpi xmlns:a14="http://schemas.microsoft.com/office/drawing/2010/main" val="0"/>
              </a:ext>
            </a:extLst>
          </a:blip>
          <a:srcRect/>
          <a:stretch>
            <a:fillRect/>
          </a:stretch>
        </p:blipFill>
        <p:spPr bwMode="auto">
          <a:xfrm rot="16548689">
            <a:off x="9177747" y="4693622"/>
            <a:ext cx="1194475" cy="354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4"/>
          <p:cNvPicPr>
            <a:picLocks noChangeAspect="1" noChangeArrowheads="1"/>
          </p:cNvPicPr>
          <p:nvPr/>
        </p:nvPicPr>
        <p:blipFill>
          <a:blip r:embed="rId6" cstate="print">
            <a:extLst>
              <a:ext uri="{BEBA8EAE-BF5A-486C-A8C5-ECC9F3942E4B}">
                <a14:imgProps xmlns:a14="http://schemas.microsoft.com/office/drawing/2010/main">
                  <a14:imgLayer r:embed="rId7">
                    <a14:imgEffect>
                      <a14:backgroundRemoval t="5042" b="89916" l="1746" r="100000">
                        <a14:foregroundMark x1="23691" y1="65546" x2="56608" y2="69748"/>
                        <a14:foregroundMark x1="58853" y1="68908" x2="92269" y2="58824"/>
                        <a14:foregroundMark x1="93267" y1="62185" x2="97257" y2="49580"/>
                        <a14:foregroundMark x1="95761" y1="24370" x2="97007" y2="52101"/>
                        <a14:foregroundMark x1="67581" y1="31092" x2="91272" y2="22689"/>
                        <a14:foregroundMark x1="24688" y1="26891" x2="66085" y2="31092"/>
                        <a14:foregroundMark x1="6484" y1="52941" x2="17955" y2="84874"/>
                        <a14:foregroundMark x1="18204" y1="83193" x2="25935" y2="70588"/>
                        <a14:foregroundMark x1="24688" y1="76471" x2="19202" y2="84034"/>
                        <a14:foregroundMark x1="3741" y1="46218" x2="15960" y2="82353"/>
                        <a14:foregroundMark x1="5486" y1="43697" x2="4988" y2="36134"/>
                        <a14:foregroundMark x1="4738" y1="41176" x2="2494" y2="36975"/>
                        <a14:foregroundMark x1="2494" y1="36134" x2="18454" y2="5042"/>
                        <a14:foregroundMark x1="19950" y1="7563" x2="23192" y2="5882"/>
                        <a14:foregroundMark x1="23691" y1="10924" x2="26683" y2="22689"/>
                      </a14:backgroundRemoval>
                    </a14:imgEffect>
                  </a14:imgLayer>
                </a14:imgProps>
              </a:ext>
              <a:ext uri="{28A0092B-C50C-407E-A947-70E740481C1C}">
                <a14:useLocalDpi xmlns:a14="http://schemas.microsoft.com/office/drawing/2010/main" val="0"/>
              </a:ext>
            </a:extLst>
          </a:blip>
          <a:srcRect/>
          <a:stretch>
            <a:fillRect/>
          </a:stretch>
        </p:blipFill>
        <p:spPr bwMode="auto">
          <a:xfrm rot="469466">
            <a:off x="7380544" y="5801546"/>
            <a:ext cx="1194475" cy="354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48 CuadroTexto"/>
          <p:cNvSpPr txBox="1"/>
          <p:nvPr/>
        </p:nvSpPr>
        <p:spPr>
          <a:xfrm>
            <a:off x="7171946" y="3429000"/>
            <a:ext cx="1409725" cy="600164"/>
          </a:xfrm>
          <a:prstGeom prst="rect">
            <a:avLst/>
          </a:prstGeom>
          <a:noFill/>
          <a:ln>
            <a:noFill/>
          </a:ln>
        </p:spPr>
        <p:txBody>
          <a:bodyPr wrap="square" rtlCol="0">
            <a:spAutoFit/>
          </a:bodyPr>
          <a:lstStyle/>
          <a:p>
            <a:pPr algn="ctr"/>
            <a:r>
              <a:rPr lang="es-MX" sz="1100" i="1" dirty="0">
                <a:solidFill>
                  <a:schemeClr val="bg1">
                    <a:lumMod val="50000"/>
                  </a:schemeClr>
                </a:solidFill>
              </a:rPr>
              <a:t>Ejecución de comandos. Ej. Masa sobre </a:t>
            </a:r>
            <a:r>
              <a:rPr lang="es-MX" sz="1100" i="1" dirty="0" err="1">
                <a:solidFill>
                  <a:schemeClr val="bg1">
                    <a:lumMod val="50000"/>
                  </a:schemeClr>
                </a:solidFill>
              </a:rPr>
              <a:t>selecc</a:t>
            </a:r>
            <a:r>
              <a:rPr lang="es-MX" sz="1100" i="1" dirty="0">
                <a:solidFill>
                  <a:schemeClr val="bg1">
                    <a:lumMod val="50000"/>
                  </a:schemeClr>
                </a:solidFill>
              </a:rPr>
              <a:t>.</a:t>
            </a:r>
            <a:endParaRPr lang="es-AR" sz="1100" i="1" dirty="0">
              <a:solidFill>
                <a:schemeClr val="bg1">
                  <a:lumMod val="50000"/>
                </a:schemeClr>
              </a:solidFill>
            </a:endParaRPr>
          </a:p>
        </p:txBody>
      </p:sp>
      <p:sp>
        <p:nvSpPr>
          <p:cNvPr id="13" name="48 CuadroTexto"/>
          <p:cNvSpPr txBox="1"/>
          <p:nvPr/>
        </p:nvSpPr>
        <p:spPr>
          <a:xfrm>
            <a:off x="9926281" y="3566365"/>
            <a:ext cx="1409725" cy="1277273"/>
          </a:xfrm>
          <a:prstGeom prst="rect">
            <a:avLst/>
          </a:prstGeom>
          <a:noFill/>
          <a:ln>
            <a:noFill/>
          </a:ln>
        </p:spPr>
        <p:txBody>
          <a:bodyPr wrap="square" rtlCol="0">
            <a:spAutoFit/>
          </a:bodyPr>
          <a:lstStyle/>
          <a:p>
            <a:pPr algn="ctr"/>
            <a:r>
              <a:rPr lang="es-MX" sz="1100" i="1" dirty="0">
                <a:solidFill>
                  <a:schemeClr val="bg1">
                    <a:lumMod val="50000"/>
                  </a:schemeClr>
                </a:solidFill>
              </a:rPr>
              <a:t>CATIA ejecuta operaciones complejas, parámetros son cargados directamente en la base de datos.</a:t>
            </a:r>
            <a:endParaRPr lang="es-AR" sz="1100" i="1" dirty="0">
              <a:solidFill>
                <a:schemeClr val="bg1">
                  <a:lumMod val="50000"/>
                </a:schemeClr>
              </a:solidFill>
            </a:endParaRPr>
          </a:p>
        </p:txBody>
      </p:sp>
      <p:sp>
        <p:nvSpPr>
          <p:cNvPr id="14" name="48 CuadroTexto"/>
          <p:cNvSpPr txBox="1"/>
          <p:nvPr/>
        </p:nvSpPr>
        <p:spPr>
          <a:xfrm>
            <a:off x="9723604" y="5502598"/>
            <a:ext cx="1409725" cy="938719"/>
          </a:xfrm>
          <a:prstGeom prst="rect">
            <a:avLst/>
          </a:prstGeom>
          <a:noFill/>
          <a:ln>
            <a:noFill/>
          </a:ln>
        </p:spPr>
        <p:txBody>
          <a:bodyPr wrap="square" rtlCol="0">
            <a:spAutoFit/>
          </a:bodyPr>
          <a:lstStyle/>
          <a:p>
            <a:pPr algn="ctr"/>
            <a:r>
              <a:rPr lang="es-MX" sz="1100" i="1" dirty="0">
                <a:solidFill>
                  <a:schemeClr val="bg1">
                    <a:lumMod val="50000"/>
                  </a:schemeClr>
                </a:solidFill>
              </a:rPr>
              <a:t>Guarda todos los parámetros asociados. Puede relacionarlos con otras tablas</a:t>
            </a:r>
            <a:endParaRPr lang="es-AR" sz="1100" i="1" dirty="0">
              <a:solidFill>
                <a:schemeClr val="bg1">
                  <a:lumMod val="50000"/>
                </a:schemeClr>
              </a:solidFill>
            </a:endParaRPr>
          </a:p>
        </p:txBody>
      </p:sp>
      <p:sp>
        <p:nvSpPr>
          <p:cNvPr id="15" name="48 CuadroTexto"/>
          <p:cNvSpPr txBox="1"/>
          <p:nvPr/>
        </p:nvSpPr>
        <p:spPr>
          <a:xfrm>
            <a:off x="6744072" y="6160304"/>
            <a:ext cx="2060110" cy="430887"/>
          </a:xfrm>
          <a:prstGeom prst="rect">
            <a:avLst/>
          </a:prstGeom>
          <a:noFill/>
          <a:ln>
            <a:noFill/>
          </a:ln>
        </p:spPr>
        <p:txBody>
          <a:bodyPr wrap="square" rtlCol="0">
            <a:spAutoFit/>
          </a:bodyPr>
          <a:lstStyle/>
          <a:p>
            <a:pPr algn="ctr"/>
            <a:r>
              <a:rPr lang="es-MX" sz="1100" i="1" dirty="0">
                <a:solidFill>
                  <a:schemeClr val="bg1">
                    <a:lumMod val="50000"/>
                  </a:schemeClr>
                </a:solidFill>
              </a:rPr>
              <a:t>Los datos están disponibles para su visualización</a:t>
            </a:r>
            <a:endParaRPr lang="es-AR" sz="1100" i="1" dirty="0">
              <a:solidFill>
                <a:schemeClr val="bg1">
                  <a:lumMod val="50000"/>
                </a:schemeClr>
              </a:solidFill>
            </a:endParaRPr>
          </a:p>
        </p:txBody>
      </p:sp>
      <p:sp>
        <p:nvSpPr>
          <p:cNvPr id="17" name="48 CuadroTexto"/>
          <p:cNvSpPr txBox="1"/>
          <p:nvPr/>
        </p:nvSpPr>
        <p:spPr>
          <a:xfrm>
            <a:off x="6635290" y="4794652"/>
            <a:ext cx="2060110" cy="600164"/>
          </a:xfrm>
          <a:prstGeom prst="rect">
            <a:avLst/>
          </a:prstGeom>
          <a:noFill/>
          <a:ln>
            <a:noFill/>
          </a:ln>
        </p:spPr>
        <p:txBody>
          <a:bodyPr wrap="square" rtlCol="0">
            <a:spAutoFit/>
          </a:bodyPr>
          <a:lstStyle/>
          <a:p>
            <a:pPr algn="ctr"/>
            <a:r>
              <a:rPr lang="es-MX" sz="1100" i="1" dirty="0">
                <a:solidFill>
                  <a:schemeClr val="bg1">
                    <a:lumMod val="50000"/>
                  </a:schemeClr>
                </a:solidFill>
              </a:rPr>
              <a:t>Desde el portal, es posible escribir en la DB para crear y modificar ciertos parámetros.</a:t>
            </a:r>
            <a:endParaRPr lang="es-AR" sz="1100" i="1" dirty="0">
              <a:solidFill>
                <a:schemeClr val="bg1">
                  <a:lumMod val="50000"/>
                </a:schemeClr>
              </a:solidFill>
            </a:endParaRPr>
          </a:p>
        </p:txBody>
      </p:sp>
      <p:sp>
        <p:nvSpPr>
          <p:cNvPr id="16"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MX" sz="2800" b="1" dirty="0">
                <a:solidFill>
                  <a:schemeClr val="bg1"/>
                </a:solidFill>
                <a:ea typeface="Open Sans Semibold" panose="020B0706030804020204" pitchFamily="34" charset="0"/>
                <a:cs typeface="Open Sans Semibold" panose="020B0706030804020204" pitchFamily="34" charset="0"/>
              </a:rPr>
              <a:t>Solución Prototipo</a:t>
            </a:r>
            <a:endParaRPr lang="es-AR" sz="2800" b="1" dirty="0">
              <a:solidFill>
                <a:schemeClr val="bg1"/>
              </a:solidFill>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3774117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726508" y="2031958"/>
            <a:ext cx="5225475" cy="400110"/>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2000" b="1" dirty="0">
                <a:latin typeface="+mj-lt"/>
                <a:ea typeface="League Spartan" charset="0"/>
                <a:cs typeface="Poppins SemiBold" pitchFamily="2" charset="77"/>
              </a:rPr>
              <a:t>Funcionalidades ya implementadas.</a:t>
            </a:r>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5640" y="3038491"/>
            <a:ext cx="3307499" cy="328284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8048" y="2268183"/>
            <a:ext cx="1617968" cy="12716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16" name="15 Conector recto de flecha"/>
          <p:cNvCxnSpPr/>
          <p:nvPr/>
        </p:nvCxnSpPr>
        <p:spPr>
          <a:xfrm flipV="1">
            <a:off x="4655840" y="3539878"/>
            <a:ext cx="1800200" cy="89723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7" name="16 CuadroTexto"/>
          <p:cNvSpPr txBox="1"/>
          <p:nvPr/>
        </p:nvSpPr>
        <p:spPr>
          <a:xfrm>
            <a:off x="8245474" y="2268183"/>
            <a:ext cx="2160240" cy="938719"/>
          </a:xfrm>
          <a:prstGeom prst="rect">
            <a:avLst/>
          </a:prstGeom>
          <a:noFill/>
          <a:ln>
            <a:noFill/>
          </a:ln>
        </p:spPr>
        <p:txBody>
          <a:bodyPr wrap="square" rtlCol="0">
            <a:spAutoFit/>
          </a:bodyPr>
          <a:lstStyle/>
          <a:p>
            <a:pPr algn="ctr"/>
            <a:r>
              <a:rPr lang="es-MX" sz="1100" i="1" dirty="0">
                <a:solidFill>
                  <a:schemeClr val="bg1">
                    <a:lumMod val="50000"/>
                  </a:schemeClr>
                </a:solidFill>
              </a:rPr>
              <a:t>Creación/ Modificación de las propiedades que hacen a una parte. Número de parte, designación, tipo, CSI, Nivel, Madurez.</a:t>
            </a:r>
            <a:endParaRPr lang="es-AR" sz="1100" i="1" dirty="0">
              <a:solidFill>
                <a:schemeClr val="bg1">
                  <a:lumMod val="50000"/>
                </a:schemeClr>
              </a:solidFill>
            </a:endParaRPr>
          </a:p>
        </p:txBody>
      </p:sp>
      <p:cxnSp>
        <p:nvCxnSpPr>
          <p:cNvPr id="18" name="17 Conector recto de flecha"/>
          <p:cNvCxnSpPr/>
          <p:nvPr/>
        </p:nvCxnSpPr>
        <p:spPr>
          <a:xfrm flipV="1">
            <a:off x="4509389" y="4365104"/>
            <a:ext cx="2099051" cy="31481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pic>
        <p:nvPicPr>
          <p:cNvPr id="307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24228" y="3844589"/>
            <a:ext cx="2376264" cy="104103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2" name="21 CuadroTexto"/>
          <p:cNvSpPr txBox="1"/>
          <p:nvPr/>
        </p:nvSpPr>
        <p:spPr>
          <a:xfrm>
            <a:off x="9244208" y="3895744"/>
            <a:ext cx="2540424" cy="769441"/>
          </a:xfrm>
          <a:prstGeom prst="rect">
            <a:avLst/>
          </a:prstGeom>
          <a:noFill/>
          <a:ln>
            <a:noFill/>
          </a:ln>
        </p:spPr>
        <p:txBody>
          <a:bodyPr wrap="square" rtlCol="0">
            <a:spAutoFit/>
          </a:bodyPr>
          <a:lstStyle/>
          <a:p>
            <a:pPr algn="ctr"/>
            <a:r>
              <a:rPr lang="es-MX" sz="1100" i="1" dirty="0">
                <a:solidFill>
                  <a:schemeClr val="bg1">
                    <a:lumMod val="50000"/>
                  </a:schemeClr>
                </a:solidFill>
              </a:rPr>
              <a:t>Ventana de búsqueda simple, implementada la búsqueda por número de parte y madurez. </a:t>
            </a:r>
            <a:r>
              <a:rPr lang="es-MX" sz="1100" i="1" dirty="0" err="1">
                <a:solidFill>
                  <a:schemeClr val="bg1">
                    <a:lumMod val="50000"/>
                  </a:schemeClr>
                </a:solidFill>
              </a:rPr>
              <a:t>Ej</a:t>
            </a:r>
            <a:r>
              <a:rPr lang="es-MX" sz="1100" i="1" dirty="0">
                <a:solidFill>
                  <a:schemeClr val="bg1">
                    <a:lumMod val="50000"/>
                  </a:schemeClr>
                </a:solidFill>
              </a:rPr>
              <a:t>: todas las 100B-63.., madurez: Liberado</a:t>
            </a:r>
            <a:endParaRPr lang="es-AR" sz="1100" i="1" dirty="0">
              <a:solidFill>
                <a:schemeClr val="bg1">
                  <a:lumMod val="50000"/>
                </a:schemeClr>
              </a:solidFill>
            </a:endParaRPr>
          </a:p>
        </p:txBody>
      </p:sp>
      <p:pic>
        <p:nvPicPr>
          <p:cNvPr id="3075"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00192" y="5295676"/>
            <a:ext cx="2613182" cy="102566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4" name="23 Conector recto de flecha"/>
          <p:cNvCxnSpPr/>
          <p:nvPr/>
        </p:nvCxnSpPr>
        <p:spPr>
          <a:xfrm>
            <a:off x="4509389" y="4885619"/>
            <a:ext cx="2099051" cy="922887"/>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28" name="27 CuadroTexto"/>
          <p:cNvSpPr txBox="1"/>
          <p:nvPr/>
        </p:nvSpPr>
        <p:spPr>
          <a:xfrm>
            <a:off x="9397302" y="5639228"/>
            <a:ext cx="2540424" cy="430887"/>
          </a:xfrm>
          <a:prstGeom prst="rect">
            <a:avLst/>
          </a:prstGeom>
          <a:noFill/>
          <a:ln>
            <a:noFill/>
          </a:ln>
        </p:spPr>
        <p:txBody>
          <a:bodyPr wrap="square" rtlCol="0">
            <a:spAutoFit/>
          </a:bodyPr>
          <a:lstStyle/>
          <a:p>
            <a:pPr algn="ctr"/>
            <a:r>
              <a:rPr lang="es-MX" sz="1100" i="1" dirty="0">
                <a:solidFill>
                  <a:schemeClr val="bg1">
                    <a:lumMod val="50000"/>
                  </a:schemeClr>
                </a:solidFill>
              </a:rPr>
              <a:t>Muestra las partes que tienen como propietario al usuario </a:t>
            </a:r>
            <a:r>
              <a:rPr lang="es-MX" sz="1100" i="1" dirty="0" err="1">
                <a:solidFill>
                  <a:schemeClr val="bg1">
                    <a:lumMod val="50000"/>
                  </a:schemeClr>
                </a:solidFill>
              </a:rPr>
              <a:t>logueado</a:t>
            </a:r>
            <a:r>
              <a:rPr lang="es-MX" sz="1100" i="1" dirty="0">
                <a:solidFill>
                  <a:schemeClr val="bg1">
                    <a:lumMod val="50000"/>
                  </a:schemeClr>
                </a:solidFill>
              </a:rPr>
              <a:t>.</a:t>
            </a:r>
          </a:p>
        </p:txBody>
      </p:sp>
      <p:pic>
        <p:nvPicPr>
          <p:cNvPr id="3076" name="Pictur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06898" y="2928916"/>
            <a:ext cx="1080120" cy="14720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30" name="29 Conector recto de flecha"/>
          <p:cNvCxnSpPr>
            <a:endCxn id="3076" idx="3"/>
          </p:cNvCxnSpPr>
          <p:nvPr/>
        </p:nvCxnSpPr>
        <p:spPr>
          <a:xfrm flipH="1" flipV="1">
            <a:off x="1287018" y="3664954"/>
            <a:ext cx="1568622" cy="77215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33" name="32 CuadroTexto"/>
          <p:cNvSpPr txBox="1"/>
          <p:nvPr/>
        </p:nvSpPr>
        <p:spPr>
          <a:xfrm>
            <a:off x="0" y="4437112"/>
            <a:ext cx="2273148" cy="769441"/>
          </a:xfrm>
          <a:prstGeom prst="rect">
            <a:avLst/>
          </a:prstGeom>
          <a:noFill/>
          <a:ln>
            <a:noFill/>
          </a:ln>
        </p:spPr>
        <p:txBody>
          <a:bodyPr wrap="square" rtlCol="0">
            <a:spAutoFit/>
          </a:bodyPr>
          <a:lstStyle/>
          <a:p>
            <a:pPr algn="ctr"/>
            <a:r>
              <a:rPr lang="es-MX" sz="1100" i="1" dirty="0">
                <a:solidFill>
                  <a:schemeClr val="bg1">
                    <a:lumMod val="50000"/>
                  </a:schemeClr>
                </a:solidFill>
              </a:rPr>
              <a:t>Estructura de producto, tiene en cuenta todas las partes creadas dentro de un mismo proyecto. (sólo para visualización)</a:t>
            </a:r>
            <a:endParaRPr lang="es-AR" sz="1100" i="1" dirty="0">
              <a:solidFill>
                <a:schemeClr val="bg1">
                  <a:lumMod val="50000"/>
                </a:schemeClr>
              </a:solidFill>
            </a:endParaRPr>
          </a:p>
        </p:txBody>
      </p:sp>
      <p:sp>
        <p:nvSpPr>
          <p:cNvPr id="19"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MX" sz="2800" b="1" dirty="0">
                <a:solidFill>
                  <a:schemeClr val="bg1"/>
                </a:solidFill>
                <a:ea typeface="Open Sans Semibold" panose="020B0706030804020204" pitchFamily="34" charset="0"/>
                <a:cs typeface="Open Sans Semibold" panose="020B0706030804020204" pitchFamily="34" charset="0"/>
              </a:rPr>
              <a:t>Solución Prototipo</a:t>
            </a:r>
            <a:endParaRPr lang="es-AR" sz="2800" b="1" dirty="0">
              <a:solidFill>
                <a:schemeClr val="bg1"/>
              </a:solidFill>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202935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par>
                                <p:cTn id="19" presetID="10" presetClass="entr" presetSubtype="0" fill="hold" nodeType="withEffect">
                                  <p:stCondLst>
                                    <p:cond delay="0"/>
                                  </p:stCondLst>
                                  <p:childTnLst>
                                    <p:set>
                                      <p:cBhvr>
                                        <p:cTn id="20" dur="1" fill="hold">
                                          <p:stCondLst>
                                            <p:cond delay="0"/>
                                          </p:stCondLst>
                                        </p:cTn>
                                        <p:tgtEl>
                                          <p:spTgt spid="3074"/>
                                        </p:tgtEl>
                                        <p:attrNameLst>
                                          <p:attrName>style.visibility</p:attrName>
                                        </p:attrNameLst>
                                      </p:cBhvr>
                                      <p:to>
                                        <p:strVal val="visible"/>
                                      </p:to>
                                    </p:set>
                                    <p:animEffect transition="in" filter="fade">
                                      <p:cBhvr>
                                        <p:cTn id="21" dur="500"/>
                                        <p:tgtEl>
                                          <p:spTgt spid="307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par>
                                <p:cTn id="30" presetID="10" presetClass="entr" presetSubtype="0" fill="hold" nodeType="withEffect">
                                  <p:stCondLst>
                                    <p:cond delay="0"/>
                                  </p:stCondLst>
                                  <p:childTnLst>
                                    <p:set>
                                      <p:cBhvr>
                                        <p:cTn id="31" dur="1" fill="hold">
                                          <p:stCondLst>
                                            <p:cond delay="0"/>
                                          </p:stCondLst>
                                        </p:cTn>
                                        <p:tgtEl>
                                          <p:spTgt spid="3075"/>
                                        </p:tgtEl>
                                        <p:attrNameLst>
                                          <p:attrName>style.visibility</p:attrName>
                                        </p:attrNameLst>
                                      </p:cBhvr>
                                      <p:to>
                                        <p:strVal val="visible"/>
                                      </p:to>
                                    </p:set>
                                    <p:animEffect transition="in" filter="fade">
                                      <p:cBhvr>
                                        <p:cTn id="32" dur="500"/>
                                        <p:tgtEl>
                                          <p:spTgt spid="307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fade">
                                      <p:cBhvr>
                                        <p:cTn id="40" dur="500"/>
                                        <p:tgtEl>
                                          <p:spTgt spid="30"/>
                                        </p:tgtEl>
                                      </p:cBhvr>
                                    </p:animEffect>
                                  </p:childTnLst>
                                </p:cTn>
                              </p:par>
                              <p:par>
                                <p:cTn id="41" presetID="10" presetClass="entr" presetSubtype="0" fill="hold" nodeType="withEffect">
                                  <p:stCondLst>
                                    <p:cond delay="0"/>
                                  </p:stCondLst>
                                  <p:childTnLst>
                                    <p:set>
                                      <p:cBhvr>
                                        <p:cTn id="42" dur="1" fill="hold">
                                          <p:stCondLst>
                                            <p:cond delay="0"/>
                                          </p:stCondLst>
                                        </p:cTn>
                                        <p:tgtEl>
                                          <p:spTgt spid="3076"/>
                                        </p:tgtEl>
                                        <p:attrNameLst>
                                          <p:attrName>style.visibility</p:attrName>
                                        </p:attrNameLst>
                                      </p:cBhvr>
                                      <p:to>
                                        <p:strVal val="visible"/>
                                      </p:to>
                                    </p:set>
                                    <p:animEffect transition="in" filter="fade">
                                      <p:cBhvr>
                                        <p:cTn id="43" dur="500"/>
                                        <p:tgtEl>
                                          <p:spTgt spid="307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2" grpId="0"/>
      <p:bldP spid="28" grpId="0"/>
      <p:bldP spid="3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57657" y="1844824"/>
            <a:ext cx="2934981" cy="158500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2"/>
          <p:cNvSpPr txBox="1"/>
          <p:nvPr/>
        </p:nvSpPr>
        <p:spPr>
          <a:xfrm>
            <a:off x="726508" y="2031958"/>
            <a:ext cx="5225475" cy="707886"/>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2000" b="1" dirty="0">
                <a:latin typeface="+mj-lt"/>
                <a:ea typeface="League Spartan" charset="0"/>
                <a:cs typeface="Poppins SemiBold" pitchFamily="2" charset="77"/>
              </a:rPr>
              <a:t>Funcionalidades ya implementadas. (continuación)</a:t>
            </a:r>
          </a:p>
        </p:txBody>
      </p:sp>
      <p:pic>
        <p:nvPicPr>
          <p:cNvPr id="5"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359" y="3004332"/>
            <a:ext cx="2741981" cy="27215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7" name="16 CuadroTexto"/>
          <p:cNvSpPr txBox="1"/>
          <p:nvPr/>
        </p:nvSpPr>
        <p:spPr>
          <a:xfrm>
            <a:off x="3726920" y="2739844"/>
            <a:ext cx="2160240" cy="600164"/>
          </a:xfrm>
          <a:prstGeom prst="rect">
            <a:avLst/>
          </a:prstGeom>
          <a:noFill/>
          <a:ln>
            <a:noFill/>
          </a:ln>
        </p:spPr>
        <p:txBody>
          <a:bodyPr wrap="square" rtlCol="0">
            <a:spAutoFit/>
          </a:bodyPr>
          <a:lstStyle/>
          <a:p>
            <a:pPr algn="ctr"/>
            <a:r>
              <a:rPr lang="es-MX" sz="1100" i="1" dirty="0">
                <a:solidFill>
                  <a:schemeClr val="bg1">
                    <a:lumMod val="50000"/>
                  </a:schemeClr>
                </a:solidFill>
              </a:rPr>
              <a:t>El usuario accede a la lista de partes en las que figura como responsable</a:t>
            </a:r>
            <a:endParaRPr lang="es-AR" sz="1100" i="1" dirty="0">
              <a:solidFill>
                <a:schemeClr val="bg1">
                  <a:lumMod val="50000"/>
                </a:schemeClr>
              </a:solidFill>
            </a:endParaRPr>
          </a:p>
        </p:txBody>
      </p:sp>
      <p:sp>
        <p:nvSpPr>
          <p:cNvPr id="22" name="21 CuadroTexto"/>
          <p:cNvSpPr txBox="1"/>
          <p:nvPr/>
        </p:nvSpPr>
        <p:spPr>
          <a:xfrm>
            <a:off x="2553692" y="6172111"/>
            <a:ext cx="3398291" cy="600164"/>
          </a:xfrm>
          <a:prstGeom prst="rect">
            <a:avLst/>
          </a:prstGeom>
          <a:noFill/>
          <a:ln>
            <a:noFill/>
          </a:ln>
        </p:spPr>
        <p:txBody>
          <a:bodyPr wrap="square" rtlCol="0">
            <a:spAutoFit/>
          </a:bodyPr>
          <a:lstStyle/>
          <a:p>
            <a:pPr algn="ctr"/>
            <a:r>
              <a:rPr lang="es-MX" sz="1100" i="1" dirty="0">
                <a:solidFill>
                  <a:schemeClr val="bg1">
                    <a:lumMod val="50000"/>
                  </a:schemeClr>
                </a:solidFill>
              </a:rPr>
              <a:t>A través de los íconos, se puede acceder a la edición de las propiedades, o a la ventana de carga en CATIA V5</a:t>
            </a:r>
            <a:endParaRPr lang="es-AR" sz="1100" i="1" dirty="0">
              <a:solidFill>
                <a:schemeClr val="bg1">
                  <a:lumMod val="50000"/>
                </a:schemeClr>
              </a:solidFill>
            </a:endParaRPr>
          </a:p>
        </p:txBody>
      </p:sp>
      <p:sp>
        <p:nvSpPr>
          <p:cNvPr id="28" name="27 CuadroTexto"/>
          <p:cNvSpPr txBox="1"/>
          <p:nvPr/>
        </p:nvSpPr>
        <p:spPr>
          <a:xfrm>
            <a:off x="10257531" y="1844824"/>
            <a:ext cx="1728192" cy="938719"/>
          </a:xfrm>
          <a:prstGeom prst="rect">
            <a:avLst/>
          </a:prstGeom>
          <a:noFill/>
          <a:ln>
            <a:noFill/>
          </a:ln>
        </p:spPr>
        <p:txBody>
          <a:bodyPr wrap="square" rtlCol="0">
            <a:spAutoFit/>
          </a:bodyPr>
          <a:lstStyle/>
          <a:p>
            <a:pPr algn="ctr"/>
            <a:r>
              <a:rPr lang="es-MX" sz="1100" i="1" dirty="0">
                <a:solidFill>
                  <a:schemeClr val="bg1">
                    <a:lumMod val="50000"/>
                  </a:schemeClr>
                </a:solidFill>
              </a:rPr>
              <a:t>Propiedades de la parte. Pueden ser editadas por el usuario. La parte puede ser actualizada o eliminada</a:t>
            </a:r>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5640" y="3383037"/>
            <a:ext cx="4320480" cy="7660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19" name="18 Conector recto de flecha"/>
          <p:cNvCxnSpPr/>
          <p:nvPr/>
        </p:nvCxnSpPr>
        <p:spPr>
          <a:xfrm flipV="1">
            <a:off x="1706349" y="4049384"/>
            <a:ext cx="1149291" cy="448617"/>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pic>
        <p:nvPicPr>
          <p:cNvPr id="409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3712" y="4840468"/>
            <a:ext cx="2727735" cy="117041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1" name="Picture 3"/>
          <p:cNvPicPr>
            <a:picLocks noChangeAspect="1" noChangeArrowheads="1"/>
          </p:cNvPicPr>
          <p:nvPr/>
        </p:nvPicPr>
        <p:blipFill>
          <a:blip r:embed="rId6" cstate="print">
            <a:extLst>
              <a:ext uri="{BEBA8EAE-BF5A-486C-A8C5-ECC9F3942E4B}">
                <a14:imgProps xmlns:a14="http://schemas.microsoft.com/office/drawing/2010/main">
                  <a14:imgLayer r:embed="rId7">
                    <a14:imgEffect>
                      <a14:backgroundRemoval t="10920" b="98276" l="439" r="100000"/>
                    </a14:imgEffect>
                  </a14:imgLayer>
                </a14:imgProps>
              </a:ext>
              <a:ext uri="{28A0092B-C50C-407E-A947-70E740481C1C}">
                <a14:useLocalDpi xmlns:a14="http://schemas.microsoft.com/office/drawing/2010/main" val="0"/>
              </a:ext>
            </a:extLst>
          </a:blip>
          <a:srcRect/>
          <a:stretch>
            <a:fillRect/>
          </a:stretch>
        </p:blipFill>
        <p:spPr bwMode="auto">
          <a:xfrm rot="17932332" flipH="1">
            <a:off x="5150093" y="4191102"/>
            <a:ext cx="823072" cy="628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3" name="22 Conector recto de flecha"/>
          <p:cNvCxnSpPr/>
          <p:nvPr/>
        </p:nvCxnSpPr>
        <p:spPr>
          <a:xfrm flipV="1">
            <a:off x="5447928" y="3340008"/>
            <a:ext cx="2391880" cy="197816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29" name="28 Conector recto de flecha"/>
          <p:cNvCxnSpPr>
            <a:endCxn id="41" idx="1"/>
          </p:cNvCxnSpPr>
          <p:nvPr/>
        </p:nvCxnSpPr>
        <p:spPr>
          <a:xfrm>
            <a:off x="6035371" y="5805264"/>
            <a:ext cx="578356" cy="143729"/>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pic>
        <p:nvPicPr>
          <p:cNvPr id="4101" name="Picture 5"/>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336360" y="3539100"/>
            <a:ext cx="2234431" cy="2003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2" name="31 Conector recto de flecha"/>
          <p:cNvCxnSpPr/>
          <p:nvPr/>
        </p:nvCxnSpPr>
        <p:spPr>
          <a:xfrm flipV="1">
            <a:off x="8472264" y="4365104"/>
            <a:ext cx="873968" cy="953068"/>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pic>
        <p:nvPicPr>
          <p:cNvPr id="38" name="Picture 2"/>
          <p:cNvPicPr>
            <a:picLocks noChangeAspect="1" noChangeArrowheads="1"/>
          </p:cNvPicPr>
          <p:nvPr/>
        </p:nvPicPr>
        <p:blipFill>
          <a:blip r:embed="rId9">
            <a:extLst>
              <a:ext uri="{BEBA8EAE-BF5A-486C-A8C5-ECC9F3942E4B}">
                <a14:imgProps xmlns:a14="http://schemas.microsoft.com/office/drawing/2010/main">
                  <a14:imgLayer r:embed="rId10">
                    <a14:imgEffect>
                      <a14:backgroundRemoval t="0" b="97037" l="0" r="100000"/>
                    </a14:imgEffect>
                  </a14:imgLayer>
                </a14:imgProps>
              </a:ext>
              <a:ext uri="{28A0092B-C50C-407E-A947-70E740481C1C}">
                <a14:useLocalDpi xmlns:a14="http://schemas.microsoft.com/office/drawing/2010/main" val="0"/>
              </a:ext>
            </a:extLst>
          </a:blip>
          <a:srcRect/>
          <a:stretch>
            <a:fillRect/>
          </a:stretch>
        </p:blipFill>
        <p:spPr bwMode="auto">
          <a:xfrm>
            <a:off x="11064177" y="2826767"/>
            <a:ext cx="1181100" cy="1285875"/>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9" name="38 CuadroTexto"/>
          <p:cNvSpPr txBox="1"/>
          <p:nvPr/>
        </p:nvSpPr>
        <p:spPr>
          <a:xfrm>
            <a:off x="6589154" y="4724009"/>
            <a:ext cx="1728192" cy="600164"/>
          </a:xfrm>
          <a:prstGeom prst="rect">
            <a:avLst/>
          </a:prstGeom>
          <a:noFill/>
          <a:ln>
            <a:noFill/>
          </a:ln>
        </p:spPr>
        <p:txBody>
          <a:bodyPr wrap="square" rtlCol="0">
            <a:spAutoFit/>
          </a:bodyPr>
          <a:lstStyle/>
          <a:p>
            <a:pPr algn="ctr"/>
            <a:r>
              <a:rPr lang="es-MX" sz="1100" i="1" dirty="0">
                <a:solidFill>
                  <a:schemeClr val="bg1">
                    <a:lumMod val="50000"/>
                  </a:schemeClr>
                </a:solidFill>
              </a:rPr>
              <a:t>Se carga el archivo </a:t>
            </a:r>
            <a:r>
              <a:rPr lang="es-MX" sz="1100" i="1" dirty="0" err="1">
                <a:solidFill>
                  <a:schemeClr val="bg1">
                    <a:lumMod val="50000"/>
                  </a:schemeClr>
                </a:solidFill>
              </a:rPr>
              <a:t>CATPart</a:t>
            </a:r>
            <a:r>
              <a:rPr lang="es-MX" sz="1100" i="1" dirty="0">
                <a:solidFill>
                  <a:schemeClr val="bg1">
                    <a:lumMod val="50000"/>
                  </a:schemeClr>
                </a:solidFill>
              </a:rPr>
              <a:t> (si existe), o se crea (si no existe)</a:t>
            </a:r>
          </a:p>
        </p:txBody>
      </p:sp>
      <p:sp>
        <p:nvSpPr>
          <p:cNvPr id="40" name="39 CuadroTexto"/>
          <p:cNvSpPr txBox="1"/>
          <p:nvPr/>
        </p:nvSpPr>
        <p:spPr>
          <a:xfrm>
            <a:off x="9192344" y="5661248"/>
            <a:ext cx="2599897" cy="769441"/>
          </a:xfrm>
          <a:prstGeom prst="rect">
            <a:avLst/>
          </a:prstGeom>
          <a:noFill/>
          <a:ln>
            <a:noFill/>
          </a:ln>
        </p:spPr>
        <p:txBody>
          <a:bodyPr wrap="square" rtlCol="0">
            <a:spAutoFit/>
          </a:bodyPr>
          <a:lstStyle/>
          <a:p>
            <a:pPr algn="ctr"/>
            <a:r>
              <a:rPr lang="es-MX" sz="1100" i="1" dirty="0">
                <a:solidFill>
                  <a:schemeClr val="bg1">
                    <a:lumMod val="50000"/>
                  </a:schemeClr>
                </a:solidFill>
              </a:rPr>
              <a:t>Los archivos son alojados en una ubicación especial de la base de datos. NO en una carpeta accesible desde el explorador del S.O.</a:t>
            </a:r>
          </a:p>
        </p:txBody>
      </p:sp>
      <p:pic>
        <p:nvPicPr>
          <p:cNvPr id="41" name="Picture 10"/>
          <p:cNvPicPr>
            <a:picLocks noChangeAspect="1" noChangeArrowheads="1"/>
          </p:cNvPicPr>
          <p:nvPr/>
        </p:nvPicPr>
        <p:blipFill rotWithShape="1">
          <a:blip r:embed="rId11">
            <a:extLst>
              <a:ext uri="{28A0092B-C50C-407E-A947-70E740481C1C}">
                <a14:useLocalDpi xmlns:a14="http://schemas.microsoft.com/office/drawing/2010/main" val="0"/>
              </a:ext>
            </a:extLst>
          </a:blip>
          <a:srcRect r="42433" b="26252"/>
          <a:stretch/>
        </p:blipFill>
        <p:spPr bwMode="auto">
          <a:xfrm>
            <a:off x="6613727" y="5318172"/>
            <a:ext cx="2452163" cy="1261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MX" sz="2800" b="1" dirty="0">
                <a:solidFill>
                  <a:schemeClr val="bg1"/>
                </a:solidFill>
                <a:ea typeface="Open Sans Semibold" panose="020B0706030804020204" pitchFamily="34" charset="0"/>
                <a:cs typeface="Open Sans Semibold" panose="020B0706030804020204" pitchFamily="34" charset="0"/>
              </a:rPr>
              <a:t>Solución Prototipo</a:t>
            </a:r>
            <a:endParaRPr lang="es-AR" sz="2800" b="1" dirty="0">
              <a:solidFill>
                <a:schemeClr val="bg1"/>
              </a:solidFill>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3161840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4098"/>
                                        </p:tgtEl>
                                        <p:attrNameLst>
                                          <p:attrName>style.visibility</p:attrName>
                                        </p:attrNameLst>
                                      </p:cBhvr>
                                      <p:to>
                                        <p:strVal val="visible"/>
                                      </p:to>
                                    </p:set>
                                    <p:animEffect transition="in" filter="fade">
                                      <p:cBhvr>
                                        <p:cTn id="10" dur="500"/>
                                        <p:tgtEl>
                                          <p:spTgt spid="409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19" presetID="10" presetClass="entr" presetSubtype="0" fill="hold" nodeType="withEffect">
                                  <p:stCondLst>
                                    <p:cond delay="0"/>
                                  </p:stCondLst>
                                  <p:childTnLst>
                                    <p:set>
                                      <p:cBhvr>
                                        <p:cTn id="20" dur="1" fill="hold">
                                          <p:stCondLst>
                                            <p:cond delay="0"/>
                                          </p:stCondLst>
                                        </p:cTn>
                                        <p:tgtEl>
                                          <p:spTgt spid="4099"/>
                                        </p:tgtEl>
                                        <p:attrNameLst>
                                          <p:attrName>style.visibility</p:attrName>
                                        </p:attrNameLst>
                                      </p:cBhvr>
                                      <p:to>
                                        <p:strVal val="visible"/>
                                      </p:to>
                                    </p:set>
                                    <p:animEffect transition="in" filter="fade">
                                      <p:cBhvr>
                                        <p:cTn id="21" dur="500"/>
                                        <p:tgtEl>
                                          <p:spTgt spid="409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nodeType="withEffect">
                                  <p:stCondLst>
                                    <p:cond delay="0"/>
                                  </p:stCondLst>
                                  <p:childTnLst>
                                    <p:set>
                                      <p:cBhvr>
                                        <p:cTn id="31" dur="1" fill="hold">
                                          <p:stCondLst>
                                            <p:cond delay="0"/>
                                          </p:stCondLst>
                                        </p:cTn>
                                        <p:tgtEl>
                                          <p:spTgt spid="4100"/>
                                        </p:tgtEl>
                                        <p:attrNameLst>
                                          <p:attrName>style.visibility</p:attrName>
                                        </p:attrNameLst>
                                      </p:cBhvr>
                                      <p:to>
                                        <p:strVal val="visible"/>
                                      </p:to>
                                    </p:set>
                                    <p:animEffect transition="in" filter="fade">
                                      <p:cBhvr>
                                        <p:cTn id="32" dur="500"/>
                                        <p:tgtEl>
                                          <p:spTgt spid="410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500"/>
                                        <p:tgtEl>
                                          <p:spTgt spid="29"/>
                                        </p:tgtEl>
                                      </p:cBhvr>
                                    </p:animEffect>
                                  </p:childTnLst>
                                </p:cTn>
                              </p:par>
                              <p:par>
                                <p:cTn id="41" presetID="10" presetClass="entr" presetSubtype="0" fill="hold" nodeType="withEffect">
                                  <p:stCondLst>
                                    <p:cond delay="0"/>
                                  </p:stCondLst>
                                  <p:childTnLst>
                                    <p:set>
                                      <p:cBhvr>
                                        <p:cTn id="42" dur="1" fill="hold">
                                          <p:stCondLst>
                                            <p:cond delay="0"/>
                                          </p:stCondLst>
                                        </p:cTn>
                                        <p:tgtEl>
                                          <p:spTgt spid="41"/>
                                        </p:tgtEl>
                                        <p:attrNameLst>
                                          <p:attrName>style.visibility</p:attrName>
                                        </p:attrNameLst>
                                      </p:cBhvr>
                                      <p:to>
                                        <p:strVal val="visible"/>
                                      </p:to>
                                    </p:set>
                                    <p:animEffect transition="in" filter="fade">
                                      <p:cBhvr>
                                        <p:cTn id="43" dur="500"/>
                                        <p:tgtEl>
                                          <p:spTgt spid="4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500"/>
                                        <p:tgtEl>
                                          <p:spTgt spid="39"/>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500"/>
                                        <p:tgtEl>
                                          <p:spTgt spid="32"/>
                                        </p:tgtEl>
                                      </p:cBhvr>
                                    </p:animEffect>
                                  </p:childTnLst>
                                </p:cTn>
                              </p:par>
                              <p:par>
                                <p:cTn id="52" presetID="10" presetClass="entr" presetSubtype="0" fill="hold" nodeType="withEffect">
                                  <p:stCondLst>
                                    <p:cond delay="0"/>
                                  </p:stCondLst>
                                  <p:childTnLst>
                                    <p:set>
                                      <p:cBhvr>
                                        <p:cTn id="53" dur="1" fill="hold">
                                          <p:stCondLst>
                                            <p:cond delay="0"/>
                                          </p:stCondLst>
                                        </p:cTn>
                                        <p:tgtEl>
                                          <p:spTgt spid="4101"/>
                                        </p:tgtEl>
                                        <p:attrNameLst>
                                          <p:attrName>style.visibility</p:attrName>
                                        </p:attrNameLst>
                                      </p:cBhvr>
                                      <p:to>
                                        <p:strVal val="visible"/>
                                      </p:to>
                                    </p:set>
                                    <p:animEffect transition="in" filter="fade">
                                      <p:cBhvr>
                                        <p:cTn id="54" dur="500"/>
                                        <p:tgtEl>
                                          <p:spTgt spid="410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fade">
                                      <p:cBhvr>
                                        <p:cTn id="57" dur="500"/>
                                        <p:tgtEl>
                                          <p:spTgt spid="40"/>
                                        </p:tgtEl>
                                      </p:cBhvr>
                                    </p:animEffect>
                                  </p:childTnLst>
                                </p:cTn>
                              </p:par>
                            </p:childTnLst>
                          </p:cTn>
                        </p:par>
                      </p:childTnLst>
                    </p:cTn>
                  </p:par>
                  <p:par>
                    <p:cTn id="58" fill="hold">
                      <p:stCondLst>
                        <p:cond delay="indefinite"/>
                      </p:stCondLst>
                      <p:childTnLst>
                        <p:par>
                          <p:cTn id="59" fill="hold">
                            <p:stCondLst>
                              <p:cond delay="0"/>
                            </p:stCondLst>
                            <p:childTnLst>
                              <p:par>
                                <p:cTn id="60" presetID="26" presetClass="emph" presetSubtype="0" fill="hold" nodeType="clickEffect">
                                  <p:stCondLst>
                                    <p:cond delay="0"/>
                                  </p:stCondLst>
                                  <p:childTnLst>
                                    <p:animEffect transition="out" filter="fade">
                                      <p:cBhvr>
                                        <p:cTn id="61" dur="500" tmFilter="0, 0; .2, .5; .8, .5; 1, 0"/>
                                        <p:tgtEl>
                                          <p:spTgt spid="38"/>
                                        </p:tgtEl>
                                      </p:cBhvr>
                                    </p:animEffect>
                                    <p:animScale>
                                      <p:cBhvr>
                                        <p:cTn id="62" dur="250" autoRev="1" fill="hold"/>
                                        <p:tgtEl>
                                          <p:spTgt spid="3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2" grpId="0"/>
      <p:bldP spid="28" grpId="0"/>
      <p:bldP spid="39" grpId="0"/>
      <p:bldP spid="4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726508" y="2031958"/>
            <a:ext cx="5225475" cy="707886"/>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2000" b="1" dirty="0">
                <a:latin typeface="+mj-lt"/>
                <a:ea typeface="League Spartan" charset="0"/>
                <a:cs typeface="Poppins SemiBold" pitchFamily="2" charset="77"/>
              </a:rPr>
              <a:t>Funcionalidades ya implementadas. (continuación)</a:t>
            </a:r>
          </a:p>
        </p:txBody>
      </p:sp>
      <p:pic>
        <p:nvPicPr>
          <p:cNvPr id="5"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1736" t="39198" r="41771" b="39135"/>
          <a:stretch/>
        </p:blipFill>
        <p:spPr bwMode="auto">
          <a:xfrm>
            <a:off x="263352" y="2882519"/>
            <a:ext cx="1296144" cy="957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71464" y="3284983"/>
            <a:ext cx="2234431" cy="200328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8170" y="4149080"/>
            <a:ext cx="1962150" cy="14287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8" name="Picture 2"/>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0" b="97037" l="0" r="100000"/>
                    </a14:imgEffect>
                  </a14:imgLayer>
                </a14:imgProps>
              </a:ext>
              <a:ext uri="{28A0092B-C50C-407E-A947-70E740481C1C}">
                <a14:useLocalDpi xmlns:a14="http://schemas.microsoft.com/office/drawing/2010/main" val="0"/>
              </a:ext>
            </a:extLst>
          </a:blip>
          <a:srcRect/>
          <a:stretch>
            <a:fillRect/>
          </a:stretch>
        </p:blipFill>
        <p:spPr bwMode="auto">
          <a:xfrm>
            <a:off x="4223792" y="3109342"/>
            <a:ext cx="1181100" cy="1285875"/>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10920" b="98276" l="439" r="100000"/>
                    </a14:imgEffect>
                  </a14:imgLayer>
                </a14:imgProps>
              </a:ext>
              <a:ext uri="{28A0092B-C50C-407E-A947-70E740481C1C}">
                <a14:useLocalDpi xmlns:a14="http://schemas.microsoft.com/office/drawing/2010/main" val="0"/>
              </a:ext>
            </a:extLst>
          </a:blip>
          <a:srcRect/>
          <a:stretch>
            <a:fillRect/>
          </a:stretch>
        </p:blipFill>
        <p:spPr bwMode="auto">
          <a:xfrm rot="21149851">
            <a:off x="3558172" y="3357605"/>
            <a:ext cx="823072" cy="6281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9 CuadroTexto"/>
          <p:cNvSpPr txBox="1"/>
          <p:nvPr/>
        </p:nvSpPr>
        <p:spPr>
          <a:xfrm>
            <a:off x="2069032" y="5668231"/>
            <a:ext cx="3522911" cy="600164"/>
          </a:xfrm>
          <a:prstGeom prst="rect">
            <a:avLst/>
          </a:prstGeom>
          <a:noFill/>
          <a:ln>
            <a:noFill/>
          </a:ln>
        </p:spPr>
        <p:txBody>
          <a:bodyPr wrap="square" rtlCol="0">
            <a:spAutoFit/>
          </a:bodyPr>
          <a:lstStyle/>
          <a:p>
            <a:pPr algn="ctr"/>
            <a:r>
              <a:rPr lang="es-MX" sz="1100" i="1" dirty="0">
                <a:solidFill>
                  <a:schemeClr val="bg1">
                    <a:lumMod val="50000"/>
                  </a:schemeClr>
                </a:solidFill>
              </a:rPr>
              <a:t>Mediante macros internas de CATIA V5, se ejecutan los comandos para medición de masa, </a:t>
            </a:r>
            <a:r>
              <a:rPr lang="es-MX" sz="1100" i="1" dirty="0" err="1">
                <a:solidFill>
                  <a:schemeClr val="bg1">
                    <a:lumMod val="50000"/>
                  </a:schemeClr>
                </a:solidFill>
              </a:rPr>
              <a:t>xcg</a:t>
            </a:r>
            <a:r>
              <a:rPr lang="es-MX" sz="1100" i="1" dirty="0">
                <a:solidFill>
                  <a:schemeClr val="bg1">
                    <a:lumMod val="50000"/>
                  </a:schemeClr>
                </a:solidFill>
              </a:rPr>
              <a:t>, </a:t>
            </a:r>
            <a:r>
              <a:rPr lang="es-MX" sz="1100" i="1" dirty="0" err="1">
                <a:solidFill>
                  <a:schemeClr val="bg1">
                    <a:lumMod val="50000"/>
                  </a:schemeClr>
                </a:solidFill>
              </a:rPr>
              <a:t>ycg</a:t>
            </a:r>
            <a:r>
              <a:rPr lang="es-MX" sz="1100" i="1" dirty="0">
                <a:solidFill>
                  <a:schemeClr val="bg1">
                    <a:lumMod val="50000"/>
                  </a:schemeClr>
                </a:solidFill>
              </a:rPr>
              <a:t>, </a:t>
            </a:r>
            <a:r>
              <a:rPr lang="es-MX" sz="1100" i="1" dirty="0" err="1">
                <a:solidFill>
                  <a:schemeClr val="bg1">
                    <a:lumMod val="50000"/>
                  </a:schemeClr>
                </a:solidFill>
              </a:rPr>
              <a:t>zcg</a:t>
            </a:r>
            <a:r>
              <a:rPr lang="es-MX" sz="1100" i="1" dirty="0">
                <a:solidFill>
                  <a:schemeClr val="bg1">
                    <a:lumMod val="50000"/>
                  </a:schemeClr>
                </a:solidFill>
              </a:rPr>
              <a:t>. Los valores se cargan en la base de datos.</a:t>
            </a:r>
          </a:p>
        </p:txBody>
      </p:sp>
      <p:pic>
        <p:nvPicPr>
          <p:cNvPr id="5124"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91943" y="1692821"/>
            <a:ext cx="3881850"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2 Rectángulo"/>
          <p:cNvSpPr/>
          <p:nvPr/>
        </p:nvSpPr>
        <p:spPr>
          <a:xfrm>
            <a:off x="5447927" y="3264767"/>
            <a:ext cx="4320481" cy="487512"/>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5125"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23122" y="4744483"/>
            <a:ext cx="5955755" cy="833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16 CuadroTexto"/>
          <p:cNvSpPr txBox="1"/>
          <p:nvPr/>
        </p:nvSpPr>
        <p:spPr>
          <a:xfrm>
            <a:off x="9505740" y="2582437"/>
            <a:ext cx="1630819" cy="600164"/>
          </a:xfrm>
          <a:prstGeom prst="rect">
            <a:avLst/>
          </a:prstGeom>
          <a:noFill/>
          <a:ln>
            <a:noFill/>
          </a:ln>
        </p:spPr>
        <p:txBody>
          <a:bodyPr wrap="square" rtlCol="0">
            <a:spAutoFit/>
          </a:bodyPr>
          <a:lstStyle/>
          <a:p>
            <a:pPr algn="ctr"/>
            <a:r>
              <a:rPr lang="es-MX" sz="1100" i="1" dirty="0">
                <a:solidFill>
                  <a:schemeClr val="bg1">
                    <a:lumMod val="50000"/>
                  </a:schemeClr>
                </a:solidFill>
              </a:rPr>
              <a:t>Propiedades de la parte antes de ejecutar la macro en CATIA V5 </a:t>
            </a:r>
          </a:p>
        </p:txBody>
      </p:sp>
      <p:sp>
        <p:nvSpPr>
          <p:cNvPr id="18" name="17 CuadroTexto"/>
          <p:cNvSpPr txBox="1"/>
          <p:nvPr/>
        </p:nvSpPr>
        <p:spPr>
          <a:xfrm>
            <a:off x="7680176" y="5676841"/>
            <a:ext cx="2448272" cy="938719"/>
          </a:xfrm>
          <a:prstGeom prst="rect">
            <a:avLst/>
          </a:prstGeom>
          <a:noFill/>
          <a:ln>
            <a:noFill/>
          </a:ln>
        </p:spPr>
        <p:txBody>
          <a:bodyPr wrap="square" rtlCol="0">
            <a:spAutoFit/>
          </a:bodyPr>
          <a:lstStyle/>
          <a:p>
            <a:pPr algn="ctr"/>
            <a:r>
              <a:rPr lang="es-MX" sz="1100" i="1" dirty="0">
                <a:solidFill>
                  <a:schemeClr val="bg1">
                    <a:lumMod val="50000"/>
                  </a:schemeClr>
                </a:solidFill>
              </a:rPr>
              <a:t>Parámetros cagados desde CATIA V5 luego de ejecutar la macro  </a:t>
            </a:r>
            <a:r>
              <a:rPr lang="es-MX" sz="1100" i="1" dirty="0" err="1">
                <a:solidFill>
                  <a:schemeClr val="bg1">
                    <a:lumMod val="50000"/>
                  </a:schemeClr>
                </a:solidFill>
              </a:rPr>
              <a:t>cg_calc</a:t>
            </a:r>
            <a:r>
              <a:rPr lang="es-MX" sz="1100" i="1" dirty="0">
                <a:solidFill>
                  <a:schemeClr val="bg1">
                    <a:lumMod val="50000"/>
                  </a:schemeClr>
                </a:solidFill>
              </a:rPr>
              <a:t>. Estos datos ya pueden ser visualizados por cualquier usuario con acceso al sistema.</a:t>
            </a:r>
          </a:p>
        </p:txBody>
      </p:sp>
      <p:sp>
        <p:nvSpPr>
          <p:cNvPr id="14" name="CuadroTexto 9">
            <a:extLst>
              <a:ext uri="{FF2B5EF4-FFF2-40B4-BE49-F238E27FC236}">
                <a16:creationId xmlns:a16="http://schemas.microsoft.com/office/drawing/2014/main" id="{887F9BD2-8C42-46BD-833C-CC9F181ABCAC}"/>
              </a:ext>
            </a:extLst>
          </p:cNvPr>
          <p:cNvSpPr txBox="1"/>
          <p:nvPr/>
        </p:nvSpPr>
        <p:spPr>
          <a:xfrm>
            <a:off x="726509" y="281561"/>
            <a:ext cx="9761979" cy="1296189"/>
          </a:xfrm>
          <a:prstGeom prst="rect">
            <a:avLst/>
          </a:prstGeom>
          <a:noFill/>
        </p:spPr>
        <p:txBody>
          <a:bodyPr wrap="square" rtlCol="0">
            <a:spAutoFit/>
          </a:bodyPr>
          <a:lstStyle/>
          <a:p>
            <a:pPr>
              <a:lnSpc>
                <a:spcPts val="5000"/>
              </a:lnSpc>
            </a:pPr>
            <a:r>
              <a:rPr lang="es-MX" sz="2800" b="1" dirty="0">
                <a:solidFill>
                  <a:schemeClr val="bg1"/>
                </a:solidFill>
                <a:ea typeface="Open Sans Semibold" panose="020B0706030804020204" pitchFamily="34" charset="0"/>
                <a:cs typeface="Open Sans Semibold" panose="020B0706030804020204" pitchFamily="34" charset="0"/>
              </a:rPr>
              <a:t>Solución Prototipo</a:t>
            </a:r>
            <a:endParaRPr lang="es-AR" sz="2800" b="1" dirty="0">
              <a:solidFill>
                <a:schemeClr val="bg1"/>
              </a:solidFill>
              <a:ea typeface="Open Sans Semibold" panose="020B0706030804020204" pitchFamily="34" charset="0"/>
              <a:cs typeface="Open Sans Semibold" panose="020B0706030804020204" pitchFamily="34" charset="0"/>
            </a:endParaRPr>
          </a:p>
          <a:p>
            <a:pPr>
              <a:lnSpc>
                <a:spcPts val="5000"/>
              </a:lnSpc>
            </a:pPr>
            <a:endParaRPr lang="es-AR" sz="2800" b="1" dirty="0">
              <a:solidFill>
                <a:schemeClr val="bg1"/>
              </a:solidFill>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2760178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anim calcmode="lin" valueType="num">
                                      <p:cBhvr>
                                        <p:cTn id="7" dur="500" fill="hold"/>
                                        <p:tgtEl>
                                          <p:spTgt spid="5123"/>
                                        </p:tgtEl>
                                        <p:attrNameLst>
                                          <p:attrName>ppt_w</p:attrName>
                                        </p:attrNameLst>
                                      </p:cBhvr>
                                      <p:tavLst>
                                        <p:tav tm="0">
                                          <p:val>
                                            <p:fltVal val="0"/>
                                          </p:val>
                                        </p:tav>
                                        <p:tav tm="100000">
                                          <p:val>
                                            <p:strVal val="#ppt_w"/>
                                          </p:val>
                                        </p:tav>
                                      </p:tavLst>
                                    </p:anim>
                                    <p:anim calcmode="lin" valueType="num">
                                      <p:cBhvr>
                                        <p:cTn id="8" dur="500" fill="hold"/>
                                        <p:tgtEl>
                                          <p:spTgt spid="5123"/>
                                        </p:tgtEl>
                                        <p:attrNameLst>
                                          <p:attrName>ppt_h</p:attrName>
                                        </p:attrNameLst>
                                      </p:cBhvr>
                                      <p:tavLst>
                                        <p:tav tm="0">
                                          <p:val>
                                            <p:fltVal val="0"/>
                                          </p:val>
                                        </p:tav>
                                        <p:tav tm="100000">
                                          <p:val>
                                            <p:strVal val="#ppt_h"/>
                                          </p:val>
                                        </p:tav>
                                      </p:tavLst>
                                    </p:anim>
                                    <p:animEffect transition="in" filter="fade">
                                      <p:cBhvr>
                                        <p:cTn id="9" dur="500"/>
                                        <p:tgtEl>
                                          <p:spTgt spid="5123"/>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nodeType="clickEffect">
                                  <p:stCondLst>
                                    <p:cond delay="0"/>
                                  </p:stCondLst>
                                  <p:childTnLst>
                                    <p:animEffect transition="out" filter="fade">
                                      <p:cBhvr>
                                        <p:cTn id="21" dur="500" tmFilter="0, 0; .2, .5; .8, .5; 1, 0"/>
                                        <p:tgtEl>
                                          <p:spTgt spid="8"/>
                                        </p:tgtEl>
                                      </p:cBhvr>
                                    </p:animEffect>
                                    <p:animScale>
                                      <p:cBhvr>
                                        <p:cTn id="22" dur="250" autoRev="1" fill="hold"/>
                                        <p:tgtEl>
                                          <p:spTgt spid="8"/>
                                        </p:tgtEl>
                                      </p:cBhvr>
                                      <p:by x="105000" y="105000"/>
                                    </p:animScale>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1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animBg="1"/>
      <p:bldP spid="17" grpId="0"/>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3712" y="4293553"/>
            <a:ext cx="2647599" cy="2073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2"/>
          <p:cNvSpPr txBox="1"/>
          <p:nvPr/>
        </p:nvSpPr>
        <p:spPr>
          <a:xfrm>
            <a:off x="726508" y="2031958"/>
            <a:ext cx="5225475" cy="400110"/>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2000" b="1" dirty="0">
                <a:latin typeface="+mj-lt"/>
                <a:ea typeface="League Spartan" charset="0"/>
                <a:cs typeface="Poppins SemiBold" pitchFamily="2" charset="77"/>
              </a:rPr>
              <a:t>Que falta implementar?</a:t>
            </a:r>
          </a:p>
        </p:txBody>
      </p:sp>
      <p:sp>
        <p:nvSpPr>
          <p:cNvPr id="6" name="TextBox 2"/>
          <p:cNvSpPr txBox="1"/>
          <p:nvPr/>
        </p:nvSpPr>
        <p:spPr>
          <a:xfrm>
            <a:off x="576833" y="2450456"/>
            <a:ext cx="6023223" cy="1569660"/>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1600" dirty="0">
                <a:latin typeface="+mj-lt"/>
                <a:ea typeface="League Spartan" charset="0"/>
                <a:cs typeface="Poppins SemiBold" pitchFamily="2" charset="77"/>
              </a:rPr>
              <a:t>Para alcanzar la funcionalidad solicitada inicialmente, es necesario calcular el CG usando los valores ingresados en cada una de las partes que hacen al producto, y mostrar el resultado en una ventana dedicada para tal fin. También es deseable exportar los datos en formato </a:t>
            </a:r>
            <a:r>
              <a:rPr lang="es-ES_tradnl" altLang="es-AR" sz="1600" dirty="0" err="1">
                <a:latin typeface="+mj-lt"/>
                <a:ea typeface="League Spartan" charset="0"/>
                <a:cs typeface="Poppins SemiBold" pitchFamily="2" charset="77"/>
              </a:rPr>
              <a:t>pdf</a:t>
            </a:r>
            <a:r>
              <a:rPr lang="es-ES_tradnl" altLang="es-AR" sz="1600" dirty="0">
                <a:latin typeface="+mj-lt"/>
                <a:ea typeface="League Spartan" charset="0"/>
                <a:cs typeface="Poppins SemiBold" pitchFamily="2" charset="77"/>
              </a:rPr>
              <a:t>.</a:t>
            </a:r>
          </a:p>
          <a:p>
            <a:pPr eaLnBrk="1" hangingPunct="1"/>
            <a:endParaRPr lang="es-ES_tradnl" altLang="es-AR" sz="1600" dirty="0">
              <a:latin typeface="+mj-lt"/>
              <a:ea typeface="League Spartan" charset="0"/>
              <a:cs typeface="Poppins SemiBold" pitchFamily="2" charset="77"/>
            </a:endParaRP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4072" y="1916832"/>
            <a:ext cx="4398165" cy="436538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4"/>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5042" b="89916" l="1746" r="100000">
                        <a14:foregroundMark x1="23691" y1="65546" x2="56608" y2="69748"/>
                        <a14:foregroundMark x1="58853" y1="68908" x2="92269" y2="58824"/>
                        <a14:foregroundMark x1="93267" y1="62185" x2="97257" y2="49580"/>
                        <a14:foregroundMark x1="95761" y1="24370" x2="97007" y2="52101"/>
                        <a14:foregroundMark x1="67581" y1="31092" x2="91272" y2="22689"/>
                        <a14:foregroundMark x1="24688" y1="26891" x2="66085" y2="31092"/>
                        <a14:foregroundMark x1="6484" y1="52941" x2="17955" y2="84874"/>
                        <a14:foregroundMark x1="18204" y1="83193" x2="25935" y2="70588"/>
                        <a14:foregroundMark x1="24688" y1="76471" x2="19202" y2="84034"/>
                        <a14:foregroundMark x1="3741" y1="46218" x2="15960" y2="82353"/>
                        <a14:foregroundMark x1="5486" y1="43697" x2="4988" y2="36134"/>
                        <a14:foregroundMark x1="4738" y1="41176" x2="2494" y2="36975"/>
                        <a14:foregroundMark x1="2494" y1="36134" x2="18454" y2="5042"/>
                        <a14:foregroundMark x1="19950" y1="7563" x2="23192" y2="5882"/>
                        <a14:foregroundMark x1="23691" y1="10924" x2="26683" y2="22689"/>
                      </a14:backgroundRemoval>
                    </a14:imgEffect>
                  </a14:imgLayer>
                </a14:imgProps>
              </a:ext>
              <a:ext uri="{28A0092B-C50C-407E-A947-70E740481C1C}">
                <a14:useLocalDpi xmlns:a14="http://schemas.microsoft.com/office/drawing/2010/main" val="0"/>
              </a:ext>
            </a:extLst>
          </a:blip>
          <a:srcRect/>
          <a:stretch>
            <a:fillRect/>
          </a:stretch>
        </p:blipFill>
        <p:spPr bwMode="auto">
          <a:xfrm rot="20299705">
            <a:off x="5820911" y="4501577"/>
            <a:ext cx="1194475" cy="354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MX" sz="2800" b="1" dirty="0">
                <a:solidFill>
                  <a:schemeClr val="bg1"/>
                </a:solidFill>
                <a:ea typeface="Open Sans Semibold" panose="020B0706030804020204" pitchFamily="34" charset="0"/>
                <a:cs typeface="Open Sans Semibold" panose="020B0706030804020204" pitchFamily="34" charset="0"/>
              </a:rPr>
              <a:t>Solución Prototipo</a:t>
            </a:r>
            <a:endParaRPr lang="es-AR" sz="2800" b="1" dirty="0">
              <a:solidFill>
                <a:schemeClr val="bg1"/>
              </a:solidFill>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2760178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nvSpPr>
        <p:spPr>
          <a:xfrm>
            <a:off x="726508" y="2031958"/>
            <a:ext cx="5225475" cy="400110"/>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2000" b="1" dirty="0">
                <a:latin typeface="+mj-lt"/>
                <a:ea typeface="League Spartan" charset="0"/>
                <a:cs typeface="Poppins SemiBold" pitchFamily="2" charset="77"/>
              </a:rPr>
              <a:t>Es posible agregar más funciones.</a:t>
            </a:r>
          </a:p>
        </p:txBody>
      </p:sp>
      <p:sp>
        <p:nvSpPr>
          <p:cNvPr id="5" name="TextBox 2"/>
          <p:cNvSpPr txBox="1"/>
          <p:nvPr/>
        </p:nvSpPr>
        <p:spPr>
          <a:xfrm>
            <a:off x="547985" y="2450456"/>
            <a:ext cx="6887319" cy="2800767"/>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1600" dirty="0">
                <a:latin typeface="+mj-lt"/>
                <a:ea typeface="League Spartan" charset="0"/>
                <a:cs typeface="Poppins SemiBold" pitchFamily="2" charset="77"/>
              </a:rPr>
              <a:t>Respetando la arquitectura de Portal web + Base de datos + CATIA V5, es posible agregar diversas funcionalidades que permitan:</a:t>
            </a:r>
          </a:p>
          <a:p>
            <a:pPr eaLnBrk="1" hangingPunct="1"/>
            <a:endParaRPr lang="es-ES_tradnl" altLang="es-AR" sz="1600" dirty="0">
              <a:latin typeface="+mj-lt"/>
              <a:ea typeface="League Spartan" charset="0"/>
              <a:cs typeface="Poppins SemiBold" pitchFamily="2" charset="77"/>
            </a:endParaRPr>
          </a:p>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Control de acceso (usuarios consultores no pueden modificar los parámetros)</a:t>
            </a:r>
          </a:p>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Asociar documentación relacionada con las partes en diseño, hipervínculos a Informes técnicos, normas, requerimientos, etc.</a:t>
            </a:r>
          </a:p>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Obtención de métricas relacionadas con el proyecto. Curvas S, etc.</a:t>
            </a:r>
          </a:p>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Lista de materiales. BOM</a:t>
            </a:r>
          </a:p>
          <a:p>
            <a:pPr marL="285750" indent="-285750" eaLnBrk="1" hangingPunct="1">
              <a:buFont typeface="Arial" pitchFamily="34" charset="0"/>
              <a:buChar char="•"/>
            </a:pPr>
            <a:endParaRPr lang="es-ES_tradnl" altLang="es-AR" sz="1600" dirty="0">
              <a:latin typeface="+mj-lt"/>
              <a:ea typeface="League Spartan" charset="0"/>
              <a:cs typeface="Poppins SemiBold" pitchFamily="2" charset="77"/>
            </a:endParaRPr>
          </a:p>
          <a:p>
            <a:pPr eaLnBrk="1" hangingPunct="1"/>
            <a:endParaRPr lang="es-ES_tradnl" altLang="es-AR" sz="1600" dirty="0">
              <a:latin typeface="+mj-lt"/>
              <a:ea typeface="League Spartan" charset="0"/>
              <a:cs typeface="Poppins SemiBold" pitchFamily="2" charset="77"/>
            </a:endParaRPr>
          </a:p>
        </p:txBody>
      </p:sp>
      <p:sp>
        <p:nvSpPr>
          <p:cNvPr id="4"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MX" sz="2800" b="1" dirty="0">
                <a:solidFill>
                  <a:schemeClr val="bg1"/>
                </a:solidFill>
                <a:ea typeface="Open Sans Semibold" panose="020B0706030804020204" pitchFamily="34" charset="0"/>
                <a:cs typeface="Open Sans Semibold" panose="020B0706030804020204" pitchFamily="34" charset="0"/>
              </a:rPr>
              <a:t>Solución Prototipo</a:t>
            </a:r>
            <a:endParaRPr lang="es-AR" sz="2800" b="1" dirty="0">
              <a:solidFill>
                <a:schemeClr val="bg1"/>
              </a:solidFill>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2760178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2"/>
          <p:cNvSpPr txBox="1"/>
          <p:nvPr/>
        </p:nvSpPr>
        <p:spPr>
          <a:xfrm>
            <a:off x="726508" y="2031958"/>
            <a:ext cx="5225475" cy="400110"/>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2000" b="1" dirty="0">
                <a:latin typeface="+mj-lt"/>
                <a:ea typeface="League Spartan" charset="0"/>
                <a:cs typeface="Poppins SemiBold" pitchFamily="2" charset="77"/>
              </a:rPr>
              <a:t>Beneficios</a:t>
            </a:r>
          </a:p>
        </p:txBody>
      </p:sp>
      <p:sp>
        <p:nvSpPr>
          <p:cNvPr id="44" name="TextBox 2"/>
          <p:cNvSpPr txBox="1"/>
          <p:nvPr/>
        </p:nvSpPr>
        <p:spPr>
          <a:xfrm>
            <a:off x="547985" y="2450456"/>
            <a:ext cx="6887319" cy="2308324"/>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La información es unívoca para todos los usuarios que la consulten.</a:t>
            </a:r>
          </a:p>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Control de estado de cada parte, por ejemplo, para optimizar la compra de misceláneas o fabricación de herramental en etapas tempranas.</a:t>
            </a:r>
          </a:p>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Mayor control sobre la DMU, cada usuario puede escribir sólo las partes que le fueron asignadas.</a:t>
            </a:r>
          </a:p>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Mayor control sobre la estructura de producto y configuración.</a:t>
            </a:r>
          </a:p>
          <a:p>
            <a:pPr marL="285750" indent="-285750" eaLnBrk="1" hangingPunct="1">
              <a:buFont typeface="Arial" pitchFamily="34" charset="0"/>
              <a:buChar char="•"/>
            </a:pPr>
            <a:endParaRPr lang="es-ES_tradnl" altLang="es-AR" sz="1600" dirty="0">
              <a:latin typeface="+mj-lt"/>
              <a:ea typeface="League Spartan" charset="0"/>
              <a:cs typeface="Poppins SemiBold" pitchFamily="2" charset="77"/>
            </a:endParaRPr>
          </a:p>
          <a:p>
            <a:pPr eaLnBrk="1" hangingPunct="1"/>
            <a:endParaRPr lang="es-ES_tradnl" altLang="es-AR" sz="1600" dirty="0">
              <a:latin typeface="+mj-lt"/>
              <a:ea typeface="League Spartan" charset="0"/>
              <a:cs typeface="Poppins SemiBold" pitchFamily="2" charset="77"/>
            </a:endParaRPr>
          </a:p>
        </p:txBody>
      </p:sp>
      <p:sp>
        <p:nvSpPr>
          <p:cNvPr id="4"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ES" sz="2800" b="1" dirty="0">
                <a:solidFill>
                  <a:schemeClr val="bg1"/>
                </a:solidFill>
                <a:ea typeface="Open Sans Semibold" panose="020B0706030804020204" pitchFamily="34" charset="0"/>
                <a:cs typeface="Open Sans Semibold" panose="020B0706030804020204" pitchFamily="34" charset="0"/>
              </a:rPr>
              <a:t>¿Por qué un Gestor PLM?</a:t>
            </a:r>
            <a:endParaRPr lang="es-AR" sz="2800" b="1" dirty="0">
              <a:solidFill>
                <a:schemeClr val="bg1"/>
              </a:solidFill>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612964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2"/>
          <p:cNvSpPr txBox="1"/>
          <p:nvPr/>
        </p:nvSpPr>
        <p:spPr>
          <a:xfrm>
            <a:off x="726508" y="2031958"/>
            <a:ext cx="5801540" cy="707886"/>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2000" b="1" dirty="0">
                <a:latin typeface="+mj-lt"/>
                <a:ea typeface="League Spartan" charset="0"/>
                <a:cs typeface="Poppins SemiBold" pitchFamily="2" charset="77"/>
              </a:rPr>
              <a:t>Algunas soluciones PLM compatibles con CATIA V5</a:t>
            </a:r>
          </a:p>
        </p:txBody>
      </p:sp>
      <p:pic>
        <p:nvPicPr>
          <p:cNvPr id="5" name="Picture 15"/>
          <p:cNvPicPr>
            <a:picLocks noChangeAspect="1" noChangeArrowheads="1"/>
          </p:cNvPicPr>
          <p:nvPr/>
        </p:nvPicPr>
        <p:blipFill rotWithShape="1">
          <a:blip r:embed="rId3">
            <a:extLst>
              <a:ext uri="{28A0092B-C50C-407E-A947-70E740481C1C}">
                <a14:useLocalDpi xmlns:a14="http://schemas.microsoft.com/office/drawing/2010/main" val="0"/>
              </a:ext>
            </a:extLst>
          </a:blip>
          <a:srcRect l="41435" t="37262" r="41412" b="37807"/>
          <a:stretch/>
        </p:blipFill>
        <p:spPr bwMode="auto">
          <a:xfrm>
            <a:off x="197283" y="2852936"/>
            <a:ext cx="2299050" cy="1879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9 CuadroTexto"/>
          <p:cNvSpPr txBox="1"/>
          <p:nvPr/>
        </p:nvSpPr>
        <p:spPr>
          <a:xfrm>
            <a:off x="22160" y="4853364"/>
            <a:ext cx="2664296" cy="1277273"/>
          </a:xfrm>
          <a:prstGeom prst="rect">
            <a:avLst/>
          </a:prstGeom>
          <a:noFill/>
          <a:ln>
            <a:noFill/>
          </a:ln>
        </p:spPr>
        <p:txBody>
          <a:bodyPr wrap="square" rtlCol="0">
            <a:spAutoFit/>
          </a:bodyPr>
          <a:lstStyle/>
          <a:p>
            <a:pPr algn="ctr"/>
            <a:r>
              <a:rPr lang="es-MX" sz="1100" i="1" dirty="0">
                <a:solidFill>
                  <a:schemeClr val="bg1">
                    <a:lumMod val="50000"/>
                  </a:schemeClr>
                </a:solidFill>
              </a:rPr>
              <a:t>ENOVIA. Se encuentra disponible y activo en FADEA, configurado por </a:t>
            </a:r>
            <a:r>
              <a:rPr lang="es-MX" sz="1100" i="1" dirty="0" err="1">
                <a:solidFill>
                  <a:schemeClr val="bg1">
                    <a:lumMod val="50000"/>
                  </a:schemeClr>
                </a:solidFill>
              </a:rPr>
              <a:t>Embraer</a:t>
            </a:r>
            <a:r>
              <a:rPr lang="es-MX" sz="1100" i="1" dirty="0">
                <a:solidFill>
                  <a:schemeClr val="bg1">
                    <a:lumMod val="50000"/>
                  </a:schemeClr>
                </a:solidFill>
              </a:rPr>
              <a:t> (el servidor posiblemente local) cerca de 10 licencias disponibles.</a:t>
            </a:r>
          </a:p>
          <a:p>
            <a:pPr algn="ctr"/>
            <a:endParaRPr lang="es-MX" sz="1100" i="1" dirty="0">
              <a:solidFill>
                <a:schemeClr val="bg1">
                  <a:lumMod val="50000"/>
                </a:schemeClr>
              </a:solidFill>
            </a:endParaRPr>
          </a:p>
          <a:p>
            <a:pPr algn="ctr"/>
            <a:r>
              <a:rPr lang="es-MX" sz="1100" i="1" dirty="0">
                <a:solidFill>
                  <a:schemeClr val="bg1">
                    <a:lumMod val="50000"/>
                  </a:schemeClr>
                </a:solidFill>
              </a:rPr>
              <a:t>Costo por licencia: ??</a:t>
            </a:r>
          </a:p>
          <a:p>
            <a:pPr algn="ctr"/>
            <a:r>
              <a:rPr lang="es-MX" sz="1100" i="1" dirty="0">
                <a:solidFill>
                  <a:schemeClr val="bg1">
                    <a:lumMod val="50000"/>
                  </a:schemeClr>
                </a:solidFill>
              </a:rPr>
              <a:t>Soporte: posiblemente EOL -&gt; V6 </a:t>
            </a:r>
          </a:p>
        </p:txBody>
      </p:sp>
      <p:pic>
        <p:nvPicPr>
          <p:cNvPr id="2" name="Picture 1"/>
          <p:cNvPicPr>
            <a:picLocks noChangeAspect="1"/>
          </p:cNvPicPr>
          <p:nvPr/>
        </p:nvPicPr>
        <p:blipFill>
          <a:blip r:embed="rId4"/>
          <a:stretch>
            <a:fillRect/>
          </a:stretch>
        </p:blipFill>
        <p:spPr>
          <a:xfrm>
            <a:off x="2809331" y="3051917"/>
            <a:ext cx="2205356" cy="1680662"/>
          </a:xfrm>
          <a:prstGeom prst="rect">
            <a:avLst/>
          </a:prstGeom>
        </p:spPr>
      </p:pic>
      <p:sp>
        <p:nvSpPr>
          <p:cNvPr id="8" name="9 CuadroTexto"/>
          <p:cNvSpPr txBox="1"/>
          <p:nvPr/>
        </p:nvSpPr>
        <p:spPr>
          <a:xfrm>
            <a:off x="2579861" y="4820196"/>
            <a:ext cx="2664296" cy="1446550"/>
          </a:xfrm>
          <a:prstGeom prst="rect">
            <a:avLst/>
          </a:prstGeom>
          <a:noFill/>
          <a:ln>
            <a:noFill/>
          </a:ln>
        </p:spPr>
        <p:txBody>
          <a:bodyPr wrap="square" rtlCol="0">
            <a:spAutoFit/>
          </a:bodyPr>
          <a:lstStyle/>
          <a:p>
            <a:pPr algn="ctr"/>
            <a:r>
              <a:rPr lang="es-MX" sz="1100" i="1" dirty="0" err="1">
                <a:solidFill>
                  <a:schemeClr val="bg1">
                    <a:lumMod val="50000"/>
                  </a:schemeClr>
                </a:solidFill>
              </a:rPr>
              <a:t>Windchill</a:t>
            </a:r>
            <a:r>
              <a:rPr lang="es-MX" sz="1100" i="1" dirty="0">
                <a:solidFill>
                  <a:schemeClr val="bg1">
                    <a:lumMod val="50000"/>
                  </a:schemeClr>
                </a:solidFill>
              </a:rPr>
              <a:t> PLM</a:t>
            </a:r>
          </a:p>
          <a:p>
            <a:pPr algn="ctr"/>
            <a:r>
              <a:rPr lang="es-MX" sz="1100" i="1" dirty="0">
                <a:solidFill>
                  <a:schemeClr val="bg1">
                    <a:lumMod val="50000"/>
                  </a:schemeClr>
                </a:solidFill>
              </a:rPr>
              <a:t>Respaldado por grandes empresas tanto del rubro aeroespacial como automotriz. Amplia funcionalidad para el manejo de documentos 3d.</a:t>
            </a:r>
          </a:p>
          <a:p>
            <a:pPr algn="ctr"/>
            <a:endParaRPr lang="es-MX" sz="1100" i="1" dirty="0">
              <a:solidFill>
                <a:schemeClr val="bg1">
                  <a:lumMod val="50000"/>
                </a:schemeClr>
              </a:solidFill>
            </a:endParaRPr>
          </a:p>
          <a:p>
            <a:pPr algn="ctr"/>
            <a:r>
              <a:rPr lang="es-MX" sz="1100" i="1" dirty="0">
                <a:solidFill>
                  <a:schemeClr val="bg1">
                    <a:lumMod val="50000"/>
                  </a:schemeClr>
                </a:solidFill>
              </a:rPr>
              <a:t>Costo por licencia: 30USD/</a:t>
            </a:r>
            <a:r>
              <a:rPr lang="es-MX" sz="1100" i="1" dirty="0" err="1">
                <a:solidFill>
                  <a:schemeClr val="bg1">
                    <a:lumMod val="50000"/>
                  </a:schemeClr>
                </a:solidFill>
              </a:rPr>
              <a:t>user</a:t>
            </a:r>
            <a:r>
              <a:rPr lang="es-MX" sz="1100" i="1" dirty="0">
                <a:solidFill>
                  <a:schemeClr val="bg1">
                    <a:lumMod val="50000"/>
                  </a:schemeClr>
                </a:solidFill>
              </a:rPr>
              <a:t>/</a:t>
            </a:r>
            <a:r>
              <a:rPr lang="es-MX" sz="1100" i="1" dirty="0" err="1">
                <a:solidFill>
                  <a:schemeClr val="bg1">
                    <a:lumMod val="50000"/>
                  </a:schemeClr>
                </a:solidFill>
              </a:rPr>
              <a:t>month</a:t>
            </a:r>
            <a:endParaRPr lang="es-MX" sz="1100" i="1" dirty="0">
              <a:solidFill>
                <a:schemeClr val="bg1">
                  <a:lumMod val="50000"/>
                </a:schemeClr>
              </a:solidFill>
            </a:endParaRPr>
          </a:p>
          <a:p>
            <a:pPr algn="ctr"/>
            <a:r>
              <a:rPr lang="es-MX" sz="1100" i="1" dirty="0">
                <a:solidFill>
                  <a:schemeClr val="bg1">
                    <a:lumMod val="50000"/>
                  </a:schemeClr>
                </a:solidFill>
              </a:rPr>
              <a:t>Soporte: Online/Documentación</a:t>
            </a:r>
          </a:p>
        </p:txBody>
      </p:sp>
      <p:sp>
        <p:nvSpPr>
          <p:cNvPr id="9" name="TextBox 2"/>
          <p:cNvSpPr txBox="1"/>
          <p:nvPr/>
        </p:nvSpPr>
        <p:spPr>
          <a:xfrm>
            <a:off x="7952795" y="2051683"/>
            <a:ext cx="3615813" cy="400110"/>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r>
              <a:rPr lang="es-ES_tradnl" altLang="es-AR" sz="2000" b="1" dirty="0" err="1">
                <a:latin typeface="+mj-lt"/>
                <a:ea typeface="League Spartan" charset="0"/>
                <a:cs typeface="Poppins SemiBold" pitchFamily="2" charset="77"/>
              </a:rPr>
              <a:t>PLMs</a:t>
            </a:r>
            <a:r>
              <a:rPr lang="es-ES_tradnl" altLang="es-AR" sz="2000" b="1" dirty="0">
                <a:latin typeface="+mj-lt"/>
                <a:ea typeface="League Spartan" charset="0"/>
                <a:cs typeface="Poppins SemiBold" pitchFamily="2" charset="77"/>
              </a:rPr>
              <a:t> </a:t>
            </a:r>
            <a:r>
              <a:rPr lang="es-ES_tradnl" altLang="es-AR" sz="2000" b="1" dirty="0" err="1">
                <a:latin typeface="+mj-lt"/>
                <a:ea typeface="League Spartan" charset="0"/>
                <a:cs typeface="Poppins SemiBold" pitchFamily="2" charset="77"/>
              </a:rPr>
              <a:t>OpenSource</a:t>
            </a:r>
            <a:endParaRPr lang="es-ES_tradnl" altLang="es-AR" sz="2000" b="1" dirty="0">
              <a:latin typeface="+mj-lt"/>
              <a:ea typeface="League Spartan" charset="0"/>
              <a:cs typeface="Poppins SemiBold" pitchFamily="2" charset="77"/>
            </a:endParaRPr>
          </a:p>
        </p:txBody>
      </p:sp>
      <p:pic>
        <p:nvPicPr>
          <p:cNvPr id="3" name="Picture 2"/>
          <p:cNvPicPr>
            <a:picLocks noChangeAspect="1"/>
          </p:cNvPicPr>
          <p:nvPr/>
        </p:nvPicPr>
        <p:blipFill>
          <a:blip r:embed="rId5"/>
          <a:stretch>
            <a:fillRect/>
          </a:stretch>
        </p:blipFill>
        <p:spPr>
          <a:xfrm>
            <a:off x="9433864" y="2541188"/>
            <a:ext cx="1743318" cy="485843"/>
          </a:xfrm>
          <a:prstGeom prst="rect">
            <a:avLst/>
          </a:prstGeom>
        </p:spPr>
      </p:pic>
      <p:pic>
        <p:nvPicPr>
          <p:cNvPr id="4" name="Picture 3"/>
          <p:cNvPicPr>
            <a:picLocks noChangeAspect="1"/>
          </p:cNvPicPr>
          <p:nvPr/>
        </p:nvPicPr>
        <p:blipFill>
          <a:blip r:embed="rId6"/>
          <a:stretch>
            <a:fillRect/>
          </a:stretch>
        </p:blipFill>
        <p:spPr>
          <a:xfrm>
            <a:off x="8156934" y="2908266"/>
            <a:ext cx="1133633" cy="619211"/>
          </a:xfrm>
          <a:prstGeom prst="rect">
            <a:avLst/>
          </a:prstGeom>
        </p:spPr>
      </p:pic>
      <p:pic>
        <p:nvPicPr>
          <p:cNvPr id="7" name="Picture 6"/>
          <p:cNvPicPr>
            <a:picLocks noChangeAspect="1"/>
          </p:cNvPicPr>
          <p:nvPr/>
        </p:nvPicPr>
        <p:blipFill>
          <a:blip r:embed="rId7"/>
          <a:stretch>
            <a:fillRect/>
          </a:stretch>
        </p:blipFill>
        <p:spPr>
          <a:xfrm>
            <a:off x="9468467" y="3428972"/>
            <a:ext cx="752580" cy="847843"/>
          </a:xfrm>
          <a:prstGeom prst="rect">
            <a:avLst/>
          </a:prstGeom>
        </p:spPr>
      </p:pic>
      <p:sp>
        <p:nvSpPr>
          <p:cNvPr id="13" name="9 CuadroTexto"/>
          <p:cNvSpPr txBox="1"/>
          <p:nvPr/>
        </p:nvSpPr>
        <p:spPr>
          <a:xfrm>
            <a:off x="9073824" y="4312961"/>
            <a:ext cx="2664296" cy="769441"/>
          </a:xfrm>
          <a:prstGeom prst="rect">
            <a:avLst/>
          </a:prstGeom>
          <a:noFill/>
          <a:ln>
            <a:noFill/>
          </a:ln>
        </p:spPr>
        <p:txBody>
          <a:bodyPr wrap="square" rtlCol="0">
            <a:spAutoFit/>
          </a:bodyPr>
          <a:lstStyle/>
          <a:p>
            <a:pPr algn="ctr"/>
            <a:r>
              <a:rPr lang="es-MX" sz="1100" i="1" dirty="0">
                <a:solidFill>
                  <a:schemeClr val="bg1">
                    <a:lumMod val="50000"/>
                  </a:schemeClr>
                </a:solidFill>
              </a:rPr>
              <a:t>Alternativas </a:t>
            </a:r>
            <a:r>
              <a:rPr lang="es-MX" sz="1100" i="1" dirty="0" err="1">
                <a:solidFill>
                  <a:schemeClr val="bg1">
                    <a:lumMod val="50000"/>
                  </a:schemeClr>
                </a:solidFill>
              </a:rPr>
              <a:t>OpenSource</a:t>
            </a:r>
            <a:r>
              <a:rPr lang="es-MX" sz="1100" i="1" dirty="0">
                <a:solidFill>
                  <a:schemeClr val="bg1">
                    <a:lumMod val="50000"/>
                  </a:schemeClr>
                </a:solidFill>
              </a:rPr>
              <a:t>, la mayoría son de licencia libre para (UN) sólo puesto.</a:t>
            </a:r>
          </a:p>
          <a:p>
            <a:pPr algn="ctr"/>
            <a:r>
              <a:rPr lang="es-MX" sz="1100" i="1" dirty="0">
                <a:solidFill>
                  <a:schemeClr val="bg1">
                    <a:lumMod val="50000"/>
                  </a:schemeClr>
                </a:solidFill>
              </a:rPr>
              <a:t>Soporte: Escaso o nulo.</a:t>
            </a:r>
          </a:p>
        </p:txBody>
      </p:sp>
      <p:sp>
        <p:nvSpPr>
          <p:cNvPr id="12"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MX" sz="2800" b="1" dirty="0">
                <a:solidFill>
                  <a:schemeClr val="bg1"/>
                </a:solidFill>
                <a:ea typeface="Open Sans Semibold" panose="020B0706030804020204" pitchFamily="34" charset="0"/>
                <a:cs typeface="Open Sans Semibold" panose="020B0706030804020204" pitchFamily="34" charset="0"/>
              </a:rPr>
              <a:t>Algunas soluciones disponibles</a:t>
            </a:r>
            <a:endParaRPr lang="es-AR" sz="2800" b="1" dirty="0">
              <a:solidFill>
                <a:schemeClr val="bg1"/>
              </a:solidFill>
              <a:ea typeface="Open Sans Semibold" panose="020B0706030804020204" pitchFamily="34" charset="0"/>
              <a:cs typeface="Open Sans Semibold" panose="020B0706030804020204" pitchFamily="34" charset="0"/>
            </a:endParaRPr>
          </a:p>
        </p:txBody>
      </p:sp>
      <p:pic>
        <p:nvPicPr>
          <p:cNvPr id="14" name="Imagen 2">
            <a:extLst>
              <a:ext uri="{FF2B5EF4-FFF2-40B4-BE49-F238E27FC236}">
                <a16:creationId xmlns:a16="http://schemas.microsoft.com/office/drawing/2014/main" id="{55E68CCD-024F-EC2F-0D73-3020EB994B3D}"/>
              </a:ext>
            </a:extLst>
          </p:cNvPr>
          <p:cNvPicPr>
            <a:picLocks noChangeAspect="1"/>
          </p:cNvPicPr>
          <p:nvPr/>
        </p:nvPicPr>
        <p:blipFill>
          <a:blip r:embed="rId8"/>
          <a:stretch>
            <a:fillRect/>
          </a:stretch>
        </p:blipFill>
        <p:spPr>
          <a:xfrm>
            <a:off x="5324629" y="3066773"/>
            <a:ext cx="2377770" cy="861031"/>
          </a:xfrm>
          <a:prstGeom prst="rect">
            <a:avLst/>
          </a:prstGeom>
        </p:spPr>
      </p:pic>
      <p:sp>
        <p:nvSpPr>
          <p:cNvPr id="16" name="9 CuadroTexto"/>
          <p:cNvSpPr txBox="1"/>
          <p:nvPr/>
        </p:nvSpPr>
        <p:spPr>
          <a:xfrm>
            <a:off x="5244157" y="4820196"/>
            <a:ext cx="2664296" cy="1615827"/>
          </a:xfrm>
          <a:prstGeom prst="rect">
            <a:avLst/>
          </a:prstGeom>
          <a:noFill/>
          <a:ln>
            <a:noFill/>
          </a:ln>
        </p:spPr>
        <p:txBody>
          <a:bodyPr wrap="square" rtlCol="0">
            <a:spAutoFit/>
          </a:bodyPr>
          <a:lstStyle/>
          <a:p>
            <a:pPr algn="ctr"/>
            <a:r>
              <a:rPr lang="es-MX" sz="1100" i="1" dirty="0" err="1">
                <a:solidFill>
                  <a:schemeClr val="bg1">
                    <a:lumMod val="50000"/>
                  </a:schemeClr>
                </a:solidFill>
              </a:rPr>
              <a:t>Teamcenter</a:t>
            </a:r>
            <a:endParaRPr lang="es-MX" sz="1100" i="1" dirty="0">
              <a:solidFill>
                <a:schemeClr val="bg1">
                  <a:lumMod val="50000"/>
                </a:schemeClr>
              </a:solidFill>
            </a:endParaRPr>
          </a:p>
          <a:p>
            <a:pPr algn="ctr"/>
            <a:r>
              <a:rPr lang="es-MX" sz="1100" i="1" dirty="0">
                <a:solidFill>
                  <a:schemeClr val="bg1">
                    <a:lumMod val="50000"/>
                  </a:schemeClr>
                </a:solidFill>
              </a:rPr>
              <a:t>Desarrollado por Siemens, junto con ENOVIA, representa hoy en día una de las soluciones más completas disponibles en el mercado</a:t>
            </a:r>
          </a:p>
          <a:p>
            <a:pPr algn="ctr"/>
            <a:endParaRPr lang="es-MX" sz="1100" i="1" dirty="0">
              <a:solidFill>
                <a:schemeClr val="bg1">
                  <a:lumMod val="50000"/>
                </a:schemeClr>
              </a:solidFill>
            </a:endParaRPr>
          </a:p>
          <a:p>
            <a:pPr algn="ctr"/>
            <a:r>
              <a:rPr lang="es-MX" sz="1100" i="1" dirty="0">
                <a:solidFill>
                  <a:schemeClr val="bg1">
                    <a:lumMod val="50000"/>
                  </a:schemeClr>
                </a:solidFill>
              </a:rPr>
              <a:t>Costo por licencia: 1800USD/</a:t>
            </a:r>
            <a:r>
              <a:rPr lang="es-MX" sz="1100" i="1" dirty="0" err="1">
                <a:solidFill>
                  <a:schemeClr val="bg1">
                    <a:lumMod val="50000"/>
                  </a:schemeClr>
                </a:solidFill>
              </a:rPr>
              <a:t>user</a:t>
            </a:r>
            <a:r>
              <a:rPr lang="es-MX" sz="1100" i="1" dirty="0">
                <a:solidFill>
                  <a:schemeClr val="bg1">
                    <a:lumMod val="50000"/>
                  </a:schemeClr>
                </a:solidFill>
              </a:rPr>
              <a:t> + 2000 server</a:t>
            </a:r>
          </a:p>
          <a:p>
            <a:pPr algn="ctr"/>
            <a:r>
              <a:rPr lang="es-MX" sz="1100" i="1" dirty="0">
                <a:solidFill>
                  <a:schemeClr val="bg1">
                    <a:lumMod val="50000"/>
                  </a:schemeClr>
                </a:solidFill>
              </a:rPr>
              <a:t>Soporte: Online/</a:t>
            </a:r>
            <a:r>
              <a:rPr lang="es-MX" sz="1100" i="1" dirty="0" err="1">
                <a:solidFill>
                  <a:schemeClr val="bg1">
                    <a:lumMod val="50000"/>
                  </a:schemeClr>
                </a:solidFill>
              </a:rPr>
              <a:t>Documentacion</a:t>
            </a:r>
            <a:endParaRPr lang="es-MX" sz="1100" i="1" dirty="0">
              <a:solidFill>
                <a:schemeClr val="bg1">
                  <a:lumMod val="50000"/>
                </a:schemeClr>
              </a:solidFill>
            </a:endParaRPr>
          </a:p>
        </p:txBody>
      </p:sp>
    </p:spTree>
    <p:extLst>
      <p:ext uri="{BB962C8B-B14F-4D97-AF65-F5344CB8AC3E}">
        <p14:creationId xmlns:p14="http://schemas.microsoft.com/office/powerpoint/2010/main" val="208228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3"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D82CF8F-C2C2-1593-8B5B-A64064061F3A}"/>
              </a:ext>
            </a:extLst>
          </p:cNvPr>
          <p:cNvPicPr>
            <a:picLocks noChangeAspect="1"/>
          </p:cNvPicPr>
          <p:nvPr/>
        </p:nvPicPr>
        <p:blipFill>
          <a:blip r:embed="rId3"/>
          <a:stretch>
            <a:fillRect/>
          </a:stretch>
        </p:blipFill>
        <p:spPr>
          <a:xfrm>
            <a:off x="1600265" y="3651780"/>
            <a:ext cx="1305107" cy="581106"/>
          </a:xfrm>
          <a:prstGeom prst="rect">
            <a:avLst/>
          </a:prstGeom>
        </p:spPr>
      </p:pic>
      <p:pic>
        <p:nvPicPr>
          <p:cNvPr id="6" name="Imagen 5">
            <a:extLst>
              <a:ext uri="{FF2B5EF4-FFF2-40B4-BE49-F238E27FC236}">
                <a16:creationId xmlns:a16="http://schemas.microsoft.com/office/drawing/2014/main" id="{4318F4F5-BC8F-95F4-891D-F6F2BDCFC8A8}"/>
              </a:ext>
            </a:extLst>
          </p:cNvPr>
          <p:cNvPicPr>
            <a:picLocks noChangeAspect="1"/>
          </p:cNvPicPr>
          <p:nvPr/>
        </p:nvPicPr>
        <p:blipFill>
          <a:blip r:embed="rId4"/>
          <a:stretch>
            <a:fillRect/>
          </a:stretch>
        </p:blipFill>
        <p:spPr>
          <a:xfrm>
            <a:off x="466632" y="1947030"/>
            <a:ext cx="3572374" cy="1619476"/>
          </a:xfrm>
          <a:prstGeom prst="rect">
            <a:avLst/>
          </a:prstGeom>
        </p:spPr>
      </p:pic>
      <p:pic>
        <p:nvPicPr>
          <p:cNvPr id="1026" name="Picture 2" descr="POR QUÉ UTILIZAR PTC WINDCHILL">
            <a:extLst>
              <a:ext uri="{FF2B5EF4-FFF2-40B4-BE49-F238E27FC236}">
                <a16:creationId xmlns:a16="http://schemas.microsoft.com/office/drawing/2014/main" id="{BF78EFDC-AC2F-27F4-C938-18FA68FAB6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7888" y="1947030"/>
            <a:ext cx="7030143" cy="4882531"/>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B09994B0-CD39-1369-28EF-40A80FE78BBA}"/>
              </a:ext>
            </a:extLst>
          </p:cNvPr>
          <p:cNvPicPr>
            <a:picLocks noChangeAspect="1"/>
          </p:cNvPicPr>
          <p:nvPr/>
        </p:nvPicPr>
        <p:blipFill>
          <a:blip r:embed="rId6"/>
          <a:stretch>
            <a:fillRect/>
          </a:stretch>
        </p:blipFill>
        <p:spPr>
          <a:xfrm>
            <a:off x="466632" y="4253459"/>
            <a:ext cx="3648584" cy="2619741"/>
          </a:xfrm>
          <a:prstGeom prst="rect">
            <a:avLst/>
          </a:prstGeom>
        </p:spPr>
      </p:pic>
      <p:sp>
        <p:nvSpPr>
          <p:cNvPr id="9"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MX" sz="2800" b="1" dirty="0" err="1">
                <a:solidFill>
                  <a:schemeClr val="bg1"/>
                </a:solidFill>
                <a:ea typeface="Open Sans Semibold" panose="020B0706030804020204" pitchFamily="34" charset="0"/>
                <a:cs typeface="Open Sans Semibold" panose="020B0706030804020204" pitchFamily="34" charset="0"/>
              </a:rPr>
              <a:t>Windchill</a:t>
            </a:r>
            <a:endParaRPr lang="es-AR" sz="2800" b="1" dirty="0">
              <a:solidFill>
                <a:schemeClr val="bg1"/>
              </a:solidFill>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4043726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Teamcenter - Opiniones, precios y características - Capterra Argentina 2023">
            <a:extLst>
              <a:ext uri="{FF2B5EF4-FFF2-40B4-BE49-F238E27FC236}">
                <a16:creationId xmlns:a16="http://schemas.microsoft.com/office/drawing/2014/main" id="{42E3A011-2EEC-139E-C047-EE275A4F0D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8565" y="1958388"/>
            <a:ext cx="8206177" cy="4618051"/>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n 2">
            <a:extLst>
              <a:ext uri="{FF2B5EF4-FFF2-40B4-BE49-F238E27FC236}">
                <a16:creationId xmlns:a16="http://schemas.microsoft.com/office/drawing/2014/main" id="{55E68CCD-024F-EC2F-0D73-3020EB994B3D}"/>
              </a:ext>
            </a:extLst>
          </p:cNvPr>
          <p:cNvPicPr>
            <a:picLocks noChangeAspect="1"/>
          </p:cNvPicPr>
          <p:nvPr/>
        </p:nvPicPr>
        <p:blipFill>
          <a:blip r:embed="rId4"/>
          <a:stretch>
            <a:fillRect/>
          </a:stretch>
        </p:blipFill>
        <p:spPr>
          <a:xfrm>
            <a:off x="184809" y="2132856"/>
            <a:ext cx="3419952" cy="1238423"/>
          </a:xfrm>
          <a:prstGeom prst="rect">
            <a:avLst/>
          </a:prstGeom>
        </p:spPr>
      </p:pic>
      <p:pic>
        <p:nvPicPr>
          <p:cNvPr id="6" name="Imagen 5">
            <a:extLst>
              <a:ext uri="{FF2B5EF4-FFF2-40B4-BE49-F238E27FC236}">
                <a16:creationId xmlns:a16="http://schemas.microsoft.com/office/drawing/2014/main" id="{DFACDEE9-9C4E-C9E6-ED88-2A7BEB664BE6}"/>
              </a:ext>
            </a:extLst>
          </p:cNvPr>
          <p:cNvPicPr>
            <a:picLocks noChangeAspect="1"/>
          </p:cNvPicPr>
          <p:nvPr/>
        </p:nvPicPr>
        <p:blipFill rotWithShape="1">
          <a:blip r:embed="rId5"/>
          <a:srcRect l="7369" t="13009"/>
          <a:stretch/>
        </p:blipFill>
        <p:spPr>
          <a:xfrm>
            <a:off x="1031857" y="3589206"/>
            <a:ext cx="1725856" cy="517265"/>
          </a:xfrm>
          <a:prstGeom prst="rect">
            <a:avLst/>
          </a:prstGeom>
        </p:spPr>
      </p:pic>
      <p:sp>
        <p:nvSpPr>
          <p:cNvPr id="7"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MX" sz="2800" b="1" dirty="0" err="1">
                <a:solidFill>
                  <a:schemeClr val="bg1"/>
                </a:solidFill>
                <a:ea typeface="Open Sans Semibold" panose="020B0706030804020204" pitchFamily="34" charset="0"/>
                <a:cs typeface="Open Sans Semibold" panose="020B0706030804020204" pitchFamily="34" charset="0"/>
              </a:rPr>
              <a:t>Teamcenter</a:t>
            </a:r>
            <a:endParaRPr lang="es-AR" sz="2800" b="1" dirty="0">
              <a:solidFill>
                <a:schemeClr val="bg1"/>
              </a:solidFill>
              <a:ea typeface="Open Sans Semibold" panose="020B0706030804020204" pitchFamily="34" charset="0"/>
              <a:cs typeface="Open Sans Semibold" panose="020B0706030804020204" pitchFamily="34" charset="0"/>
            </a:endParaRPr>
          </a:p>
        </p:txBody>
      </p:sp>
      <p:pic>
        <p:nvPicPr>
          <p:cNvPr id="5" name="Imagen 4">
            <a:extLst>
              <a:ext uri="{FF2B5EF4-FFF2-40B4-BE49-F238E27FC236}">
                <a16:creationId xmlns:a16="http://schemas.microsoft.com/office/drawing/2014/main" id="{7C2C4A4D-681C-8DE6-9020-5A5F0F9A5AE1}"/>
              </a:ext>
            </a:extLst>
          </p:cNvPr>
          <p:cNvPicPr>
            <a:picLocks noChangeAspect="1"/>
          </p:cNvPicPr>
          <p:nvPr/>
        </p:nvPicPr>
        <p:blipFill>
          <a:blip r:embed="rId6"/>
          <a:stretch>
            <a:fillRect/>
          </a:stretch>
        </p:blipFill>
        <p:spPr>
          <a:xfrm>
            <a:off x="157258" y="5595743"/>
            <a:ext cx="9469136" cy="10896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74046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844106D-73F1-48A7-EF9E-DC28DE7B0B0B}"/>
              </a:ext>
            </a:extLst>
          </p:cNvPr>
          <p:cNvPicPr>
            <a:picLocks noChangeAspect="1"/>
          </p:cNvPicPr>
          <p:nvPr/>
        </p:nvPicPr>
        <p:blipFill>
          <a:blip r:embed="rId3"/>
          <a:stretch>
            <a:fillRect/>
          </a:stretch>
        </p:blipFill>
        <p:spPr>
          <a:xfrm>
            <a:off x="304291" y="2348880"/>
            <a:ext cx="3534268" cy="1495634"/>
          </a:xfrm>
          <a:prstGeom prst="rect">
            <a:avLst/>
          </a:prstGeom>
        </p:spPr>
      </p:pic>
      <p:pic>
        <p:nvPicPr>
          <p:cNvPr id="2050" name="Picture 2" descr="ENOVIA 3DEXPERIENCE Product Explorer - YouTube">
            <a:extLst>
              <a:ext uri="{FF2B5EF4-FFF2-40B4-BE49-F238E27FC236}">
                <a16:creationId xmlns:a16="http://schemas.microsoft.com/office/drawing/2014/main" id="{C38D355E-1969-9718-E72E-10983E1F76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3188" y="2348880"/>
            <a:ext cx="7757760" cy="4363740"/>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15A806B2-5850-879F-7D04-71E536605C03}"/>
              </a:ext>
            </a:extLst>
          </p:cNvPr>
          <p:cNvPicPr>
            <a:picLocks noChangeAspect="1"/>
          </p:cNvPicPr>
          <p:nvPr/>
        </p:nvPicPr>
        <p:blipFill>
          <a:blip r:embed="rId5"/>
          <a:stretch>
            <a:fillRect/>
          </a:stretch>
        </p:blipFill>
        <p:spPr>
          <a:xfrm>
            <a:off x="1224208" y="4077072"/>
            <a:ext cx="1694434" cy="685534"/>
          </a:xfrm>
          <a:prstGeom prst="rect">
            <a:avLst/>
          </a:prstGeom>
        </p:spPr>
      </p:pic>
      <p:sp>
        <p:nvSpPr>
          <p:cNvPr id="7"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MX" sz="2800" b="1" dirty="0" err="1">
                <a:solidFill>
                  <a:schemeClr val="bg1"/>
                </a:solidFill>
                <a:ea typeface="Open Sans Semibold" panose="020B0706030804020204" pitchFamily="34" charset="0"/>
                <a:cs typeface="Open Sans Semibold" panose="020B0706030804020204" pitchFamily="34" charset="0"/>
              </a:rPr>
              <a:t>Enovia</a:t>
            </a:r>
            <a:endParaRPr lang="es-AR" sz="2800" b="1" dirty="0">
              <a:solidFill>
                <a:schemeClr val="bg1"/>
              </a:solidFill>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25469531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1">
            <a:extLst>
              <a:ext uri="{FF2B5EF4-FFF2-40B4-BE49-F238E27FC236}">
                <a16:creationId xmlns:a16="http://schemas.microsoft.com/office/drawing/2014/main" id="{21E963B2-182C-6D8C-87FC-E0AD6C6AF1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416" y="1484784"/>
            <a:ext cx="9761980" cy="5229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MX" sz="2800" b="1" dirty="0">
                <a:solidFill>
                  <a:schemeClr val="bg1"/>
                </a:solidFill>
                <a:ea typeface="Open Sans Semibold" panose="020B0706030804020204" pitchFamily="34" charset="0"/>
                <a:cs typeface="Open Sans Semibold" panose="020B0706030804020204" pitchFamily="34" charset="0"/>
              </a:rPr>
              <a:t>Datos: </a:t>
            </a:r>
            <a:r>
              <a:rPr lang="es-MX" sz="2800" b="1" dirty="0" err="1">
                <a:solidFill>
                  <a:schemeClr val="bg1"/>
                </a:solidFill>
                <a:ea typeface="Open Sans Semibold" panose="020B0706030804020204" pitchFamily="34" charset="0"/>
                <a:cs typeface="Open Sans Semibold" panose="020B0706030804020204" pitchFamily="34" charset="0"/>
              </a:rPr>
              <a:t>Retrabajos</a:t>
            </a:r>
            <a:r>
              <a:rPr lang="es-MX" sz="2800" b="1" dirty="0">
                <a:solidFill>
                  <a:schemeClr val="bg1"/>
                </a:solidFill>
                <a:ea typeface="Open Sans Semibold" panose="020B0706030804020204" pitchFamily="34" charset="0"/>
                <a:cs typeface="Open Sans Semibold" panose="020B0706030804020204" pitchFamily="34" charset="0"/>
              </a:rPr>
              <a:t> en IA100B</a:t>
            </a:r>
            <a:endParaRPr lang="es-AR" sz="2800" b="1" dirty="0">
              <a:solidFill>
                <a:schemeClr val="bg1"/>
              </a:solidFill>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178645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MX" sz="2800" b="1" dirty="0" err="1">
                <a:solidFill>
                  <a:schemeClr val="bg1"/>
                </a:solidFill>
                <a:ea typeface="Open Sans Semibold" panose="020B0706030804020204" pitchFamily="34" charset="0"/>
                <a:cs typeface="Open Sans Semibold" panose="020B0706030804020204" pitchFamily="34" charset="0"/>
              </a:rPr>
              <a:t>Retrabajos</a:t>
            </a:r>
            <a:r>
              <a:rPr lang="es-MX" sz="2800" b="1" dirty="0">
                <a:solidFill>
                  <a:schemeClr val="bg1"/>
                </a:solidFill>
                <a:ea typeface="Open Sans Semibold" panose="020B0706030804020204" pitchFamily="34" charset="0"/>
                <a:cs typeface="Open Sans Semibold" panose="020B0706030804020204" pitchFamily="34" charset="0"/>
              </a:rPr>
              <a:t> en IA100B</a:t>
            </a:r>
            <a:endParaRPr lang="es-AR" sz="2800" b="1" dirty="0">
              <a:solidFill>
                <a:schemeClr val="bg1"/>
              </a:solidFill>
              <a:ea typeface="Open Sans Semibold" panose="020B0706030804020204" pitchFamily="34" charset="0"/>
              <a:cs typeface="Open Sans Semibold" panose="020B0706030804020204" pitchFamily="34" charset="0"/>
            </a:endParaRPr>
          </a:p>
        </p:txBody>
      </p:sp>
      <p:sp>
        <p:nvSpPr>
          <p:cNvPr id="4" name="TextBox 2">
            <a:extLst>
              <a:ext uri="{FF2B5EF4-FFF2-40B4-BE49-F238E27FC236}">
                <a16:creationId xmlns:a16="http://schemas.microsoft.com/office/drawing/2014/main" id="{8C010BC1-7B1C-F9BA-2090-795B579CC52D}"/>
              </a:ext>
            </a:extLst>
          </p:cNvPr>
          <p:cNvSpPr txBox="1"/>
          <p:nvPr/>
        </p:nvSpPr>
        <p:spPr>
          <a:xfrm>
            <a:off x="911424" y="2132856"/>
            <a:ext cx="9433048" cy="2308324"/>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Gran parte de los deltas mencionados corresponden a cambios del producto dados por una gestión manual y asincrónica de todos los sistemas del proyecto</a:t>
            </a:r>
          </a:p>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Cabe mencionar que una parte de los sobrecostos son atribuibles a curvas de aprendizaje en cuanto al diseño de moldes (desmolde de partes de compuesto)</a:t>
            </a:r>
          </a:p>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Otros aspecto podrían haberse tenido en cuenta para esta evaluación (delay en curvas S/etapas de proyecto, compra de elementos innecesarios), pero no se tenían datos certeros</a:t>
            </a:r>
          </a:p>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Se mencionan estas variables con el objetivo de demostrar que datos mal gestionados en proyectos complejos traen aparejados ruidos en toda la cadena de producción y compra, impactando en importantes sobrecostos</a:t>
            </a:r>
          </a:p>
        </p:txBody>
      </p:sp>
    </p:spTree>
    <p:extLst>
      <p:ext uri="{BB962C8B-B14F-4D97-AF65-F5344CB8AC3E}">
        <p14:creationId xmlns:p14="http://schemas.microsoft.com/office/powerpoint/2010/main" val="109468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AR" sz="2800" b="1" dirty="0">
                <a:solidFill>
                  <a:schemeClr val="bg1"/>
                </a:solidFill>
                <a:ea typeface="Open Sans Semibold" panose="020B0706030804020204" pitchFamily="34" charset="0"/>
                <a:cs typeface="Open Sans Semibold" panose="020B0706030804020204" pitchFamily="34" charset="0"/>
              </a:rPr>
              <a:t>Resumen</a:t>
            </a:r>
          </a:p>
        </p:txBody>
      </p:sp>
      <p:sp>
        <p:nvSpPr>
          <p:cNvPr id="4" name="TextBox 2">
            <a:extLst>
              <a:ext uri="{FF2B5EF4-FFF2-40B4-BE49-F238E27FC236}">
                <a16:creationId xmlns:a16="http://schemas.microsoft.com/office/drawing/2014/main" id="{8C010BC1-7B1C-F9BA-2090-795B579CC52D}"/>
              </a:ext>
            </a:extLst>
          </p:cNvPr>
          <p:cNvSpPr txBox="1"/>
          <p:nvPr/>
        </p:nvSpPr>
        <p:spPr>
          <a:xfrm>
            <a:off x="936105" y="2348880"/>
            <a:ext cx="9552383" cy="3293209"/>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La implementación de un soft PLM permite:</a:t>
            </a:r>
          </a:p>
          <a:p>
            <a:pPr marL="1028700" lvl="1" eaLnBrk="1" hangingPunct="1">
              <a:buFont typeface="Arial" pitchFamily="34" charset="0"/>
              <a:buChar char="•"/>
            </a:pPr>
            <a:r>
              <a:rPr lang="es-ES_tradnl" altLang="es-AR" sz="1600" dirty="0">
                <a:latin typeface="+mj-lt"/>
                <a:ea typeface="League Spartan" charset="0"/>
                <a:cs typeface="Poppins SemiBold" pitchFamily="2" charset="77"/>
              </a:rPr>
              <a:t>gestionar el diseño en cada una de sus etapas de forma progresiva y ordenada</a:t>
            </a:r>
          </a:p>
          <a:p>
            <a:pPr marL="1028700" lvl="1" eaLnBrk="1" hangingPunct="1">
              <a:buFont typeface="Arial" pitchFamily="34" charset="0"/>
              <a:buChar char="•"/>
            </a:pPr>
            <a:r>
              <a:rPr lang="es-ES_tradnl" altLang="es-AR" sz="1600" dirty="0">
                <a:latin typeface="+mj-lt"/>
                <a:ea typeface="League Spartan" charset="0"/>
                <a:cs typeface="Poppins SemiBold" pitchFamily="2" charset="77"/>
              </a:rPr>
              <a:t>gestionar requerimientos operativos y normativos en una base de datos univoca, pudiéndose utilizar como herramienta de certificación de proyectos </a:t>
            </a:r>
          </a:p>
          <a:p>
            <a:pPr marL="1028700" lvl="1" eaLnBrk="1" hangingPunct="1">
              <a:buFont typeface="Arial" pitchFamily="34" charset="0"/>
              <a:buChar char="•"/>
            </a:pPr>
            <a:r>
              <a:rPr lang="es-ES_tradnl" altLang="es-AR" sz="1600" dirty="0">
                <a:latin typeface="+mj-lt"/>
                <a:ea typeface="League Spartan" charset="0"/>
                <a:cs typeface="Poppins SemiBold" pitchFamily="2" charset="77"/>
              </a:rPr>
              <a:t>reducir sobrecostos asociados a cambios de productos</a:t>
            </a:r>
          </a:p>
          <a:p>
            <a:pPr marL="1028700" lvl="1" eaLnBrk="1" hangingPunct="1">
              <a:buFont typeface="Arial" pitchFamily="34" charset="0"/>
              <a:buChar char="•"/>
            </a:pPr>
            <a:r>
              <a:rPr lang="es-ES_tradnl" altLang="es-AR" sz="1600" dirty="0">
                <a:latin typeface="+mj-lt"/>
                <a:ea typeface="League Spartan" charset="0"/>
                <a:cs typeface="Poppins SemiBold" pitchFamily="2" charset="77"/>
              </a:rPr>
              <a:t>gestionar herramental de producción conociendo en tiempo real el estado del Producto</a:t>
            </a:r>
          </a:p>
          <a:p>
            <a:pPr marL="1028700" lvl="1" eaLnBrk="1" hangingPunct="1">
              <a:buFont typeface="Arial" pitchFamily="34" charset="0"/>
              <a:buChar char="•"/>
            </a:pPr>
            <a:r>
              <a:rPr lang="es-ES_tradnl" altLang="es-AR" sz="1600" dirty="0">
                <a:latin typeface="+mj-lt"/>
                <a:ea typeface="League Spartan" charset="0"/>
                <a:cs typeface="Poppins SemiBold" pitchFamily="2" charset="77"/>
              </a:rPr>
              <a:t>gestionar diversas configuraciones de un mismo proyecto</a:t>
            </a:r>
          </a:p>
          <a:p>
            <a:pPr marL="1028700" lvl="1" eaLnBrk="1" hangingPunct="1">
              <a:buFont typeface="Arial" pitchFamily="34" charset="0"/>
              <a:buChar char="•"/>
            </a:pPr>
            <a:r>
              <a:rPr lang="es-ES_tradnl" altLang="es-AR" sz="1600" dirty="0">
                <a:latin typeface="+mj-lt"/>
                <a:ea typeface="League Spartan" charset="0"/>
                <a:cs typeface="Poppins SemiBold" pitchFamily="2" charset="77"/>
              </a:rPr>
              <a:t>gestionar permisos de acceso a la información de la base de datos</a:t>
            </a:r>
          </a:p>
          <a:p>
            <a:pPr marL="1028700" lvl="1" eaLnBrk="1" hangingPunct="1">
              <a:buFont typeface="Arial" pitchFamily="34" charset="0"/>
              <a:buChar char="•"/>
            </a:pPr>
            <a:r>
              <a:rPr lang="es-ES_tradnl" altLang="es-AR" sz="1600" dirty="0">
                <a:latin typeface="+mj-lt"/>
                <a:ea typeface="League Spartan" charset="0"/>
                <a:cs typeface="Poppins SemiBold" pitchFamily="2" charset="77"/>
              </a:rPr>
              <a:t>reducir los tiempos de liberación ya que la carga de información se haría de forma univoca desde Catia a la base de datos y extrapolable a otras plataformas actuales de FAdeA</a:t>
            </a:r>
          </a:p>
          <a:p>
            <a:pPr marL="1028700" lvl="1" eaLnBrk="1" hangingPunct="1">
              <a:buFont typeface="Arial" pitchFamily="34" charset="0"/>
              <a:buChar char="•"/>
            </a:pPr>
            <a:r>
              <a:rPr lang="es-ES_tradnl" altLang="es-AR" sz="1600" dirty="0">
                <a:latin typeface="+mj-lt"/>
                <a:ea typeface="League Spartan" charset="0"/>
                <a:cs typeface="Poppins SemiBold" pitchFamily="2" charset="77"/>
              </a:rPr>
              <a:t>obtener información relacionada al estado del proyecto, ej. Curvas S</a:t>
            </a:r>
          </a:p>
          <a:p>
            <a:pPr marL="1028700" lvl="1" eaLnBrk="1" hangingPunct="1">
              <a:buFont typeface="Arial" pitchFamily="34" charset="0"/>
              <a:buChar char="•"/>
            </a:pPr>
            <a:r>
              <a:rPr lang="es-ES_tradnl" altLang="es-AR" sz="1600" dirty="0">
                <a:latin typeface="+mj-lt"/>
                <a:ea typeface="League Spartan" charset="0"/>
                <a:cs typeface="Poppins SemiBold" pitchFamily="2" charset="77"/>
              </a:rPr>
              <a:t>vincular IT de intercambio de información entre áreas participantes del proyecto</a:t>
            </a:r>
          </a:p>
          <a:p>
            <a:pPr marL="1028700" lvl="1" eaLnBrk="1" hangingPunct="1">
              <a:buFont typeface="Arial" pitchFamily="34" charset="0"/>
              <a:buChar char="•"/>
            </a:pPr>
            <a:r>
              <a:rPr lang="es-ES_tradnl" altLang="es-AR" sz="1600" dirty="0">
                <a:latin typeface="+mj-lt"/>
                <a:ea typeface="League Spartan" charset="0"/>
                <a:cs typeface="Poppins SemiBold" pitchFamily="2" charset="77"/>
              </a:rPr>
              <a:t>gestionar control de costos de diseño vinculando a OTP</a:t>
            </a:r>
          </a:p>
        </p:txBody>
      </p:sp>
    </p:spTree>
    <p:extLst>
      <p:ext uri="{BB962C8B-B14F-4D97-AF65-F5344CB8AC3E}">
        <p14:creationId xmlns:p14="http://schemas.microsoft.com/office/powerpoint/2010/main" val="40990635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2"/>
          <p:cNvSpPr txBox="1"/>
          <p:nvPr/>
        </p:nvSpPr>
        <p:spPr>
          <a:xfrm>
            <a:off x="1559496" y="2420888"/>
            <a:ext cx="6887319" cy="3785652"/>
          </a:xfrm>
          <a:prstGeom prst="rect">
            <a:avLst/>
          </a:prstGeom>
          <a:noFill/>
        </p:spPr>
        <p:txBody>
          <a:bodyPr wrap="square">
            <a:spAutoFit/>
          </a:bodyPr>
          <a:lstStyle>
            <a:lvl1pPr eaLnBrk="0" hangingPunct="0">
              <a:defRPr sz="2400">
                <a:solidFill>
                  <a:schemeClr val="tx1"/>
                </a:solidFill>
                <a:latin typeface="Calibri" panose="020F0502020204030204" pitchFamily="34" charset="0"/>
                <a:ea typeface="MS PGothic" panose="020B0600070205080204" pitchFamily="34" charset="-128"/>
              </a:defRPr>
            </a:lvl1pPr>
            <a:lvl2pPr marL="742950" indent="-285750" eaLnBrk="0" hangingPunct="0">
              <a:defRPr sz="2400">
                <a:solidFill>
                  <a:schemeClr val="tx1"/>
                </a:solidFill>
                <a:latin typeface="Calibri" panose="020F0502020204030204" pitchFamily="34" charset="0"/>
                <a:ea typeface="MS PGothic" panose="020B0600070205080204" pitchFamily="34" charset="-128"/>
              </a:defRPr>
            </a:lvl2pPr>
            <a:lvl3pPr marL="1143000" indent="-228600" eaLnBrk="0" hangingPunct="0">
              <a:defRPr sz="2400">
                <a:solidFill>
                  <a:schemeClr val="tx1"/>
                </a:solidFill>
                <a:latin typeface="Calibri" panose="020F0502020204030204" pitchFamily="34" charset="0"/>
                <a:ea typeface="MS PGothic" panose="020B0600070205080204" pitchFamily="34" charset="-128"/>
              </a:defRPr>
            </a:lvl3pPr>
            <a:lvl4pPr marL="1600200" indent="-228600" eaLnBrk="0" hangingPunct="0">
              <a:defRPr sz="2400">
                <a:solidFill>
                  <a:schemeClr val="tx1"/>
                </a:solidFill>
                <a:latin typeface="Calibri" panose="020F0502020204030204" pitchFamily="34" charset="0"/>
                <a:ea typeface="MS PGothic" panose="020B0600070205080204" pitchFamily="34" charset="-128"/>
              </a:defRPr>
            </a:lvl4pPr>
            <a:lvl5pPr marL="2057400" indent="-228600" eaLnBrk="0" hangingPunct="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En términos de DMU la falta de un gestor VPM hace que deban adoptarse metodologías que inducen al error constantemente.</a:t>
            </a:r>
          </a:p>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En términos generales la falta de un gestor PLM deja como resultado la pérdida de información sensible, duplicidad en espacios de acceso no controlado en el servidor, falta de reacción al momento de vincular documentación existente con tareas en curso.</a:t>
            </a:r>
          </a:p>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Al ser un recurso necesario para cualquier industria, hay mucha oferta en un amplio rango de precio.</a:t>
            </a:r>
          </a:p>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La opción </a:t>
            </a:r>
            <a:r>
              <a:rPr lang="es-ES_tradnl" altLang="es-AR" sz="1600" dirty="0" err="1">
                <a:latin typeface="+mj-lt"/>
                <a:ea typeface="League Spartan" charset="0"/>
                <a:cs typeface="Poppins SemiBold" pitchFamily="2" charset="77"/>
              </a:rPr>
              <a:t>OpenSource</a:t>
            </a:r>
            <a:r>
              <a:rPr lang="es-ES_tradnl" altLang="es-AR" sz="1600" dirty="0">
                <a:latin typeface="+mj-lt"/>
                <a:ea typeface="League Spartan" charset="0"/>
                <a:cs typeface="Poppins SemiBold" pitchFamily="2" charset="77"/>
              </a:rPr>
              <a:t> puede ofrecer muchos problemas en su implementación, el soporte es escaso. La mayoría son pagos al superar cierto número de usuarios.</a:t>
            </a:r>
          </a:p>
          <a:p>
            <a:pPr marL="285750" indent="-285750" eaLnBrk="1" hangingPunct="1">
              <a:buFont typeface="Arial" pitchFamily="34" charset="0"/>
              <a:buChar char="•"/>
            </a:pPr>
            <a:r>
              <a:rPr lang="es-ES_tradnl" altLang="es-AR" sz="1600" dirty="0">
                <a:latin typeface="+mj-lt"/>
                <a:ea typeface="League Spartan" charset="0"/>
                <a:cs typeface="Poppins SemiBold" pitchFamily="2" charset="77"/>
              </a:rPr>
              <a:t>Un desarrollo local puede adaptarse a las necesidades básicas de la fábrica y escalar hasta lograr una solución más compleja.</a:t>
            </a:r>
          </a:p>
          <a:p>
            <a:pPr marL="285750" indent="-285750" eaLnBrk="1" hangingPunct="1">
              <a:buFont typeface="Arial" pitchFamily="34" charset="0"/>
              <a:buChar char="•"/>
            </a:pPr>
            <a:endParaRPr lang="es-ES_tradnl" altLang="es-AR" sz="1600" dirty="0">
              <a:latin typeface="+mj-lt"/>
              <a:ea typeface="League Spartan" charset="0"/>
              <a:cs typeface="Poppins SemiBold" pitchFamily="2" charset="77"/>
            </a:endParaRPr>
          </a:p>
          <a:p>
            <a:pPr eaLnBrk="1" hangingPunct="1"/>
            <a:endParaRPr lang="es-ES_tradnl" altLang="es-AR" sz="1600" dirty="0">
              <a:latin typeface="+mj-lt"/>
              <a:ea typeface="League Spartan" charset="0"/>
              <a:cs typeface="Poppins SemiBold" pitchFamily="2" charset="77"/>
            </a:endParaRPr>
          </a:p>
        </p:txBody>
      </p:sp>
      <p:sp>
        <p:nvSpPr>
          <p:cNvPr id="5" name="CuadroTexto 9">
            <a:extLst>
              <a:ext uri="{FF2B5EF4-FFF2-40B4-BE49-F238E27FC236}">
                <a16:creationId xmlns:a16="http://schemas.microsoft.com/office/drawing/2014/main" id="{887F9BD2-8C42-46BD-833C-CC9F181ABCAC}"/>
              </a:ext>
            </a:extLst>
          </p:cNvPr>
          <p:cNvSpPr txBox="1"/>
          <p:nvPr/>
        </p:nvSpPr>
        <p:spPr>
          <a:xfrm>
            <a:off x="726509" y="281561"/>
            <a:ext cx="9761979" cy="654988"/>
          </a:xfrm>
          <a:prstGeom prst="rect">
            <a:avLst/>
          </a:prstGeom>
          <a:noFill/>
        </p:spPr>
        <p:txBody>
          <a:bodyPr wrap="square" rtlCol="0">
            <a:spAutoFit/>
          </a:bodyPr>
          <a:lstStyle/>
          <a:p>
            <a:pPr>
              <a:lnSpc>
                <a:spcPts val="5000"/>
              </a:lnSpc>
            </a:pPr>
            <a:r>
              <a:rPr lang="es-MX" sz="2800" b="1" dirty="0">
                <a:solidFill>
                  <a:schemeClr val="bg1"/>
                </a:solidFill>
                <a:ea typeface="Open Sans Semibold" panose="020B0706030804020204" pitchFamily="34" charset="0"/>
                <a:cs typeface="Open Sans Semibold" panose="020B0706030804020204" pitchFamily="34" charset="0"/>
              </a:rPr>
              <a:t>Conclusiones</a:t>
            </a:r>
            <a:endParaRPr lang="es-AR" sz="2800" b="1" dirty="0">
              <a:solidFill>
                <a:schemeClr val="bg1"/>
              </a:solidFill>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30879680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4975262"/>
      </p:ext>
    </p:extLst>
  </p:cSld>
  <p:clrMapOvr>
    <a:masterClrMapping/>
  </p:clrMapOvr>
</p:sld>
</file>

<file path=ppt/theme/theme1.xml><?xml version="1.0" encoding="utf-8"?>
<a:theme xmlns:a="http://schemas.openxmlformats.org/drawingml/2006/main" name="Diseño personalizad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Diseño personalizad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9722</TotalTime>
  <Words>1500</Words>
  <Application>Microsoft Office PowerPoint</Application>
  <PresentationFormat>Panorámica</PresentationFormat>
  <Paragraphs>134</Paragraphs>
  <Slides>21</Slides>
  <Notes>9</Notes>
  <HiddenSlides>0</HiddenSlides>
  <MMClips>0</MMClips>
  <ScaleCrop>false</ScaleCrop>
  <HeadingPairs>
    <vt:vector size="6" baseType="variant">
      <vt:variant>
        <vt:lpstr>Fuentes usadas</vt:lpstr>
      </vt:variant>
      <vt:variant>
        <vt:i4>2</vt:i4>
      </vt:variant>
      <vt:variant>
        <vt:lpstr>Tema</vt:lpstr>
      </vt:variant>
      <vt:variant>
        <vt:i4>3</vt:i4>
      </vt:variant>
      <vt:variant>
        <vt:lpstr>Títulos de diapositiva</vt:lpstr>
      </vt:variant>
      <vt:variant>
        <vt:i4>21</vt:i4>
      </vt:variant>
    </vt:vector>
  </HeadingPairs>
  <TitlesOfParts>
    <vt:vector size="26" baseType="lpstr">
      <vt:lpstr>Arial</vt:lpstr>
      <vt:lpstr>Calibri</vt:lpstr>
      <vt:lpstr>Diseño personalizado</vt:lpstr>
      <vt:lpstr>Office Theme</vt:lpstr>
      <vt:lpstr>1_Diseño personalizado</vt:lpstr>
      <vt:lpstr>PROPUESTA DE MEJORA  IMPLEMENTACIÓN VPLM</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Garabello, Gabriel Alejandro</dc:creator>
  <cp:lastModifiedBy>WS0023 FADEA</cp:lastModifiedBy>
  <cp:revision>750</cp:revision>
  <dcterms:created xsi:type="dcterms:W3CDTF">2020-04-01T23:26:07Z</dcterms:created>
  <dcterms:modified xsi:type="dcterms:W3CDTF">2023-08-08T14:44:17Z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15.0000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Panorámica</vt:lpwstr>
  </property>
  <property fmtid="{D5CDD505-2E9C-101B-9397-08002B2CF9AE}" pid="9" name="ScaleCrop">
    <vt:bool>false</vt:bool>
  </property>
  <property fmtid="{D5CDD505-2E9C-101B-9397-08002B2CF9AE}" pid="10" name="ShareDoc">
    <vt:bool>false</vt:bool>
  </property>
  <property fmtid="{D5CDD505-2E9C-101B-9397-08002B2CF9AE}" pid="11" name="Slides">
    <vt:i4>9</vt:i4>
  </property>
</Properties>
</file>